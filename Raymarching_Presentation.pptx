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s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78"/>
  </p:normalViewPr>
  <p:slideViewPr>
    <p:cSldViewPr snapToGrid="0">
      <p:cViewPr varScale="1">
        <p:scale>
          <a:sx n="147" d="100"/>
          <a:sy n="147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6F2D7B-40FF-9ACA-AE46-CEB66D985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sk-UA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C37D97F-D2F8-BF2D-D0AB-6E6D3C9C3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sk-UA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C8C9318-77C3-F6A8-4775-A6D09B28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327B-94BD-DB49-9EF7-C4F897D69F13}" type="datetimeFigureOut">
              <a:rPr lang="sk-UA" smtClean="0"/>
              <a:t>10.03.26</a:t>
            </a:fld>
            <a:endParaRPr lang="sk-UA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89B3572-109B-F69C-2F26-A3D52EDF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UA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AF2C0FB-EF5C-D620-A647-1047BE09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50ED-3ED0-934E-A35C-79D1DD0B20B9}" type="slidenum">
              <a:rPr lang="sk-UA" smtClean="0"/>
              <a:t>‹#›</a:t>
            </a:fld>
            <a:endParaRPr lang="sk-UA"/>
          </a:p>
        </p:txBody>
      </p:sp>
    </p:spTree>
    <p:extLst>
      <p:ext uri="{BB962C8B-B14F-4D97-AF65-F5344CB8AC3E}">
        <p14:creationId xmlns:p14="http://schemas.microsoft.com/office/powerpoint/2010/main" val="187606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9B4323-DC5C-EFD2-6EAF-E71BBE47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sk-UA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1F41A58-71A1-F7DF-ACF3-5C71CEAD1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sk-UA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57FBE688-8C43-BE8D-CDA9-39EE9B01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327B-94BD-DB49-9EF7-C4F897D69F13}" type="datetimeFigureOut">
              <a:rPr lang="sk-UA" smtClean="0"/>
              <a:t>10.03.26</a:t>
            </a:fld>
            <a:endParaRPr lang="sk-UA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9694EFF-07DF-E402-1160-54586A25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UA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FAD9A7E-2257-3512-DFB2-515565C59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50ED-3ED0-934E-A35C-79D1DD0B20B9}" type="slidenum">
              <a:rPr lang="sk-UA" smtClean="0"/>
              <a:t>‹#›</a:t>
            </a:fld>
            <a:endParaRPr lang="sk-UA"/>
          </a:p>
        </p:txBody>
      </p:sp>
    </p:spTree>
    <p:extLst>
      <p:ext uri="{BB962C8B-B14F-4D97-AF65-F5344CB8AC3E}">
        <p14:creationId xmlns:p14="http://schemas.microsoft.com/office/powerpoint/2010/main" val="423905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B5C2BC-A6B6-3F8F-16C1-5BACEAD8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sk-UA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C042976-317D-87BE-BD59-9F05ADA8A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36FAA45A-1F46-267F-3C66-4ECBA178B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327B-94BD-DB49-9EF7-C4F897D69F13}" type="datetimeFigureOut">
              <a:rPr lang="sk-UA" smtClean="0"/>
              <a:t>10.03.26</a:t>
            </a:fld>
            <a:endParaRPr lang="sk-UA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59D1F9E-3D7F-DB7D-3FE4-38217610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UA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93865F6-4D58-6BDA-037C-51F00F7C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50ED-3ED0-934E-A35C-79D1DD0B20B9}" type="slidenum">
              <a:rPr lang="sk-UA" smtClean="0"/>
              <a:t>‹#›</a:t>
            </a:fld>
            <a:endParaRPr lang="sk-UA"/>
          </a:p>
        </p:txBody>
      </p:sp>
    </p:spTree>
    <p:extLst>
      <p:ext uri="{BB962C8B-B14F-4D97-AF65-F5344CB8AC3E}">
        <p14:creationId xmlns:p14="http://schemas.microsoft.com/office/powerpoint/2010/main" val="2826613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3CC7A7-F6B7-1259-5AAA-ACF035064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sk-UA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D804D3B-250F-EC06-FA66-305E6EF980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sk-UA"/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748CC5F9-05BA-C8BA-2602-803E80E70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sk-UA"/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FF1107B2-3894-E5AD-14CF-B2090125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327B-94BD-DB49-9EF7-C4F897D69F13}" type="datetimeFigureOut">
              <a:rPr lang="sk-UA" smtClean="0"/>
              <a:t>10.03.26</a:t>
            </a:fld>
            <a:endParaRPr lang="sk-UA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DEFFF61-D748-95F1-B09D-DFF38B82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UA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8F46C274-5575-2C0B-FDB1-91661004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50ED-3ED0-934E-A35C-79D1DD0B20B9}" type="slidenum">
              <a:rPr lang="sk-UA" smtClean="0"/>
              <a:t>‹#›</a:t>
            </a:fld>
            <a:endParaRPr lang="sk-UA"/>
          </a:p>
        </p:txBody>
      </p:sp>
    </p:spTree>
    <p:extLst>
      <p:ext uri="{BB962C8B-B14F-4D97-AF65-F5344CB8AC3E}">
        <p14:creationId xmlns:p14="http://schemas.microsoft.com/office/powerpoint/2010/main" val="319230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4ED74-B951-BD12-8D4D-44D98E479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sk-UA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7C203D-3764-B9F2-CFDD-75918A1DC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7FC4868-7265-D7CB-34A8-44A0DBF0B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sk-UA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2C23082-C644-9106-71F1-3D2C4AB04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0BD6E583-2311-064B-6F1C-4243A98C3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sk-UA"/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30B6D45A-6F10-5C64-1B54-DD827EC61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327B-94BD-DB49-9EF7-C4F897D69F13}" type="datetimeFigureOut">
              <a:rPr lang="sk-UA" smtClean="0"/>
              <a:t>10.03.26</a:t>
            </a:fld>
            <a:endParaRPr lang="sk-UA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9729447B-BD8A-5D15-888F-630F999F0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UA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D47F0BC1-FAA5-6E62-F530-9B8941B5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50ED-3ED0-934E-A35C-79D1DD0B20B9}" type="slidenum">
              <a:rPr lang="sk-UA" smtClean="0"/>
              <a:t>‹#›</a:t>
            </a:fld>
            <a:endParaRPr lang="sk-UA"/>
          </a:p>
        </p:txBody>
      </p:sp>
    </p:spTree>
    <p:extLst>
      <p:ext uri="{BB962C8B-B14F-4D97-AF65-F5344CB8AC3E}">
        <p14:creationId xmlns:p14="http://schemas.microsoft.com/office/powerpoint/2010/main" val="86118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6F7AA9-7626-4C41-33E5-D94445C2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sk-UA"/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EF43C0C7-B00E-BEE1-84E8-BA71C270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327B-94BD-DB49-9EF7-C4F897D69F13}" type="datetimeFigureOut">
              <a:rPr lang="sk-UA" smtClean="0"/>
              <a:t>10.03.26</a:t>
            </a:fld>
            <a:endParaRPr lang="sk-UA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B3F17E71-C5BF-88F9-3F7D-D8A9F585C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UA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2E6051CD-CCBE-2DC5-CB90-2818FBEDF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50ED-3ED0-934E-A35C-79D1DD0B20B9}" type="slidenum">
              <a:rPr lang="sk-UA" smtClean="0"/>
              <a:t>‹#›</a:t>
            </a:fld>
            <a:endParaRPr lang="sk-UA"/>
          </a:p>
        </p:txBody>
      </p:sp>
    </p:spTree>
    <p:extLst>
      <p:ext uri="{BB962C8B-B14F-4D97-AF65-F5344CB8AC3E}">
        <p14:creationId xmlns:p14="http://schemas.microsoft.com/office/powerpoint/2010/main" val="3374667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CB503356-0189-9F4C-BBB4-9932D7069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327B-94BD-DB49-9EF7-C4F897D69F13}" type="datetimeFigureOut">
              <a:rPr lang="sk-UA" smtClean="0"/>
              <a:t>10.03.26</a:t>
            </a:fld>
            <a:endParaRPr lang="sk-UA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4B4ABE64-9EEB-7234-79FE-DC72E00B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UA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A3A7AA9-C28F-5E9D-FF16-A3673909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50ED-3ED0-934E-A35C-79D1DD0B20B9}" type="slidenum">
              <a:rPr lang="sk-UA" smtClean="0"/>
              <a:t>‹#›</a:t>
            </a:fld>
            <a:endParaRPr lang="sk-UA"/>
          </a:p>
        </p:txBody>
      </p:sp>
    </p:spTree>
    <p:extLst>
      <p:ext uri="{BB962C8B-B14F-4D97-AF65-F5344CB8AC3E}">
        <p14:creationId xmlns:p14="http://schemas.microsoft.com/office/powerpoint/2010/main" val="85534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57E455-E60E-19A0-D158-EEF793B6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sk-UA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79C38A4-6A92-F9FC-2094-3EB52B5B0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sk-UA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7CD7FA4-16C8-7E9B-25AA-CCAF08D4B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385E3A20-BA98-383B-33E3-90548780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327B-94BD-DB49-9EF7-C4F897D69F13}" type="datetimeFigureOut">
              <a:rPr lang="sk-UA" smtClean="0"/>
              <a:t>10.03.26</a:t>
            </a:fld>
            <a:endParaRPr lang="sk-UA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D886208B-9207-6730-20ED-22765E70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UA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BC9DAF2D-E2C1-A03C-C7DC-9DCD613A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50ED-3ED0-934E-A35C-79D1DD0B20B9}" type="slidenum">
              <a:rPr lang="sk-UA" smtClean="0"/>
              <a:t>‹#›</a:t>
            </a:fld>
            <a:endParaRPr lang="sk-UA"/>
          </a:p>
        </p:txBody>
      </p:sp>
    </p:spTree>
    <p:extLst>
      <p:ext uri="{BB962C8B-B14F-4D97-AF65-F5344CB8AC3E}">
        <p14:creationId xmlns:p14="http://schemas.microsoft.com/office/powerpoint/2010/main" val="2155175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DC5C1E-B120-C0C1-862B-FAFD65709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sk-UA"/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BC8A14A1-7E69-22B9-7637-9790C50F3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UA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0EB61E9-0CE6-F06B-8786-2223CD3B5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AA1532C4-02CB-DC99-94E2-4AD1C671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327B-94BD-DB49-9EF7-C4F897D69F13}" type="datetimeFigureOut">
              <a:rPr lang="sk-UA" smtClean="0"/>
              <a:t>10.03.26</a:t>
            </a:fld>
            <a:endParaRPr lang="sk-UA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8D227E3-4A1E-DB9C-4A04-42D6DD7D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UA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718FA0B-D1AF-8E06-0DFB-0E1C83076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50ED-3ED0-934E-A35C-79D1DD0B20B9}" type="slidenum">
              <a:rPr lang="sk-UA" smtClean="0"/>
              <a:t>‹#›</a:t>
            </a:fld>
            <a:endParaRPr lang="sk-UA"/>
          </a:p>
        </p:txBody>
      </p:sp>
    </p:spTree>
    <p:extLst>
      <p:ext uri="{BB962C8B-B14F-4D97-AF65-F5344CB8AC3E}">
        <p14:creationId xmlns:p14="http://schemas.microsoft.com/office/powerpoint/2010/main" val="1957240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78593F-1174-188D-59C7-3E867F77C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sk-UA"/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1B49FE44-A0C0-97D0-3679-D539FA411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sk-UA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B2C6759-8FCE-EA0F-D9B7-B62CC20D9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327B-94BD-DB49-9EF7-C4F897D69F13}" type="datetimeFigureOut">
              <a:rPr lang="sk-UA" smtClean="0"/>
              <a:t>10.03.26</a:t>
            </a:fld>
            <a:endParaRPr lang="sk-UA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1F4002A-072E-DD29-F98D-691B9939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UA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F9DA7EB-AE96-662C-9437-E8E85746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50ED-3ED0-934E-A35C-79D1DD0B20B9}" type="slidenum">
              <a:rPr lang="sk-UA" smtClean="0"/>
              <a:t>‹#›</a:t>
            </a:fld>
            <a:endParaRPr lang="sk-UA"/>
          </a:p>
        </p:txBody>
      </p:sp>
    </p:spTree>
    <p:extLst>
      <p:ext uri="{BB962C8B-B14F-4D97-AF65-F5344CB8AC3E}">
        <p14:creationId xmlns:p14="http://schemas.microsoft.com/office/powerpoint/2010/main" val="85995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6ADBCC68-C351-2846-DD4D-DDC74527A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sk-UA"/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F4E95EB3-8CD8-77E6-65FF-DFCAE780C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sk-UA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36DAB623-BA88-555F-8E10-E8A5A38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327B-94BD-DB49-9EF7-C4F897D69F13}" type="datetimeFigureOut">
              <a:rPr lang="sk-UA" smtClean="0"/>
              <a:t>10.03.26</a:t>
            </a:fld>
            <a:endParaRPr lang="sk-UA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C271D9E-CE3D-1995-19C8-B9F1D858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UA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31E5EDB-E8C4-2CB5-80C1-7EE9AA64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50ED-3ED0-934E-A35C-79D1DD0B20B9}" type="slidenum">
              <a:rPr lang="sk-UA" smtClean="0"/>
              <a:t>‹#›</a:t>
            </a:fld>
            <a:endParaRPr lang="sk-UA"/>
          </a:p>
        </p:txBody>
      </p:sp>
    </p:spTree>
    <p:extLst>
      <p:ext uri="{BB962C8B-B14F-4D97-AF65-F5344CB8AC3E}">
        <p14:creationId xmlns:p14="http://schemas.microsoft.com/office/powerpoint/2010/main" val="1596689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9D0F2B92-3D4C-5582-DEE0-92F02B8F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sk-UA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0981310-599F-4D7B-A138-BAEFEEE66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sk-UA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0E0EDC8-2465-0BDE-482B-CD9D0BD52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0327B-94BD-DB49-9EF7-C4F897D69F13}" type="datetimeFigureOut">
              <a:rPr lang="sk-UA" smtClean="0"/>
              <a:t>10.03.26</a:t>
            </a:fld>
            <a:endParaRPr lang="sk-UA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7886D27-FC8C-6B0C-1607-AFD871293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UA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3B92F986-571A-6BBF-186C-D5A841B96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F50ED-3ED0-934E-A35C-79D1DD0B20B9}" type="slidenum">
              <a:rPr lang="sk-UA" smtClean="0"/>
              <a:t>‹#›</a:t>
            </a:fld>
            <a:endParaRPr lang="sk-UA"/>
          </a:p>
        </p:txBody>
      </p:sp>
    </p:spTree>
    <p:extLst>
      <p:ext uri="{BB962C8B-B14F-4D97-AF65-F5344CB8AC3E}">
        <p14:creationId xmlns:p14="http://schemas.microsoft.com/office/powerpoint/2010/main" val="3232160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raymarching - Is there a method to do ray marching style modulus repeat  with raytracing? - Computer Graphics Stack Exchange">
            <a:extLst>
              <a:ext uri="{FF2B5EF4-FFF2-40B4-BE49-F238E27FC236}">
                <a16:creationId xmlns:a16="http://schemas.microsoft.com/office/drawing/2014/main" id="{29416074-76C6-EB4F-A2B2-DBC83C20A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D2DD3588-577F-8C0D-B374-D5A6577A3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sk-SK" b="1">
                <a:solidFill>
                  <a:srgbClr val="FFFFFF"/>
                </a:solidFill>
              </a:rPr>
              <a:t>Raymarching: 3D grafika bez polygónov</a:t>
            </a:r>
            <a:endParaRPr lang="sk-UA" b="1">
              <a:solidFill>
                <a:srgbClr val="FFFFFF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DA87E06-AAC7-4E42-7285-6F48A4C4A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Vladyslav Roshko</a:t>
            </a:r>
            <a:endParaRPr lang="sk-UA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144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311D65-281D-FF02-123B-B36D3ABF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UA"/>
          </a:p>
        </p:txBody>
      </p:sp>
      <p:pic>
        <p:nvPicPr>
          <p:cNvPr id="2050" name="Picture 2" descr="Character Wireframe">
            <a:extLst>
              <a:ext uri="{FF2B5EF4-FFF2-40B4-BE49-F238E27FC236}">
                <a16:creationId xmlns:a16="http://schemas.microsoft.com/office/drawing/2014/main" id="{8601B593-EA62-A832-9F94-DBB0836EF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42878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w to get solid render with wireframes and no shading - Blender Stack  Exchange">
            <a:extLst>
              <a:ext uri="{FF2B5EF4-FFF2-40B4-BE49-F238E27FC236}">
                <a16:creationId xmlns:a16="http://schemas.microsoft.com/office/drawing/2014/main" id="{09C0985D-8495-9776-EBF5-F8818AD769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781" y="0"/>
            <a:ext cx="3041994" cy="280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Wireframe and shaded representations of the Olga character. | Download  Scientific Diagram">
            <a:extLst>
              <a:ext uri="{FF2B5EF4-FFF2-40B4-BE49-F238E27FC236}">
                <a16:creationId xmlns:a16="http://schemas.microsoft.com/office/drawing/2014/main" id="{8DF2CC14-7804-22BA-7714-AE656AE64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782" y="2806700"/>
            <a:ext cx="3591498" cy="405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Why are video game models all made up of triangles? : r/3Dmodeling">
            <a:extLst>
              <a:ext uri="{FF2B5EF4-FFF2-40B4-BE49-F238E27FC236}">
                <a16:creationId xmlns:a16="http://schemas.microsoft.com/office/drawing/2014/main" id="{11830C23-B3CA-9B09-07A8-09BAC0012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"/>
            <a:ext cx="4721225" cy="280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Looking for advices: Character modeling animation - News &amp; General  Discussion - Unity Discussions">
            <a:extLst>
              <a:ext uri="{FF2B5EF4-FFF2-40B4-BE49-F238E27FC236}">
                <a16:creationId xmlns:a16="http://schemas.microsoft.com/office/drawing/2014/main" id="{DF72880C-D748-F815-B66F-3E0AA6EA9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280" y="2806699"/>
            <a:ext cx="4171720" cy="405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79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31FCEC7-F6E5-F70B-4896-27C76186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b="1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Rozdiel v prístupoch (Ray Tracing vs Raymarching)</a:t>
            </a:r>
            <a:endParaRPr lang="en-US" sz="3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4" name="Picture 2" descr="Making of Moana (the ShaderToy) | Chris' Graphics Blog">
            <a:extLst>
              <a:ext uri="{FF2B5EF4-FFF2-40B4-BE49-F238E27FC236}">
                <a16:creationId xmlns:a16="http://schemas.microsoft.com/office/drawing/2014/main" id="{FB3CAFF0-7484-0F05-311B-58F1C0F693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8425" y="2354239"/>
            <a:ext cx="9995149" cy="394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961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1E7DBF-4C29-D179-292F-F706F6C23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Základy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SDF</a:t>
            </a:r>
          </a:p>
        </p:txBody>
      </p:sp>
      <p:pic>
        <p:nvPicPr>
          <p:cNvPr id="4" name="Zástupný objekt pre obsah 3" descr="Obrázok, na ktorom je snímka obrazovky, diagram, grafika, rad&#10;&#10;Automaticky generovaný popis">
            <a:extLst>
              <a:ext uri="{FF2B5EF4-FFF2-40B4-BE49-F238E27FC236}">
                <a16:creationId xmlns:a16="http://schemas.microsoft.com/office/drawing/2014/main" id="{A020BEEF-5F93-1B45-CE39-0A9934391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114" y="1628116"/>
            <a:ext cx="6449549" cy="3531126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AE29DE7E-82FD-DC28-DD78-D2BA0F36E724}"/>
              </a:ext>
            </a:extLst>
          </p:cNvPr>
          <p:cNvSpPr txBox="1"/>
          <p:nvPr/>
        </p:nvSpPr>
        <p:spPr>
          <a:xfrm>
            <a:off x="7910285" y="2533476"/>
            <a:ext cx="344351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</a:rPr>
              <a:t>Hodnota</a:t>
            </a:r>
            <a:r>
              <a:rPr lang="en-US" sz="1400" dirty="0">
                <a:effectLst/>
              </a:rPr>
              <a:t> </a:t>
            </a:r>
            <a:r>
              <a:rPr lang="en-US" sz="1400" b="1" dirty="0">
                <a:effectLst/>
              </a:rPr>
              <a:t>d</a:t>
            </a:r>
            <a:r>
              <a:rPr lang="en-US" sz="1400" dirty="0">
                <a:effectLst/>
              </a:rPr>
              <a:t> (</a:t>
            </a:r>
            <a:r>
              <a:rPr lang="en-US" sz="1400" dirty="0" err="1">
                <a:effectLst/>
              </a:rPr>
              <a:t>vzdialenosť</a:t>
            </a:r>
            <a:r>
              <a:rPr lang="en-US" sz="1400" dirty="0">
                <a:effectLst/>
              </a:rPr>
              <a:t>) </a:t>
            </a:r>
            <a:r>
              <a:rPr lang="en-US" sz="1400" dirty="0" err="1">
                <a:effectLst/>
              </a:rPr>
              <a:t>nám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presne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definuje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polohu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bodu</a:t>
            </a:r>
            <a:r>
              <a:rPr lang="en-US" sz="1400" dirty="0">
                <a:effectLst/>
              </a:rPr>
              <a:t> v </a:t>
            </a:r>
            <a:r>
              <a:rPr lang="en-US" sz="1400" dirty="0" err="1">
                <a:effectLst/>
              </a:rPr>
              <a:t>priestore</a:t>
            </a:r>
            <a:r>
              <a:rPr lang="en-US" sz="1400" dirty="0">
                <a:effectLst/>
              </a:rPr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d &gt; 0 (</a:t>
            </a:r>
            <a:r>
              <a:rPr lang="en-US" sz="1400" b="1" dirty="0" err="1">
                <a:effectLst/>
              </a:rPr>
              <a:t>Kladná</a:t>
            </a:r>
            <a:r>
              <a:rPr lang="en-US" sz="1400" b="1" dirty="0">
                <a:effectLst/>
              </a:rPr>
              <a:t> </a:t>
            </a:r>
            <a:r>
              <a:rPr lang="en-US" sz="1400" b="1" dirty="0" err="1">
                <a:effectLst/>
              </a:rPr>
              <a:t>hodnota</a:t>
            </a:r>
            <a:r>
              <a:rPr lang="en-US" sz="1400" b="1" dirty="0">
                <a:effectLst/>
              </a:rPr>
              <a:t>):</a:t>
            </a:r>
            <a:r>
              <a:rPr lang="en-US" sz="1400" dirty="0">
                <a:effectLst/>
              </a:rPr>
              <a:t> Bod </a:t>
            </a:r>
            <a:r>
              <a:rPr lang="en-US" sz="1400" dirty="0" err="1">
                <a:effectLst/>
              </a:rPr>
              <a:t>sa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nachádza</a:t>
            </a:r>
            <a:r>
              <a:rPr lang="en-US" sz="1400" dirty="0">
                <a:effectLst/>
              </a:rPr>
              <a:t> </a:t>
            </a:r>
            <a:r>
              <a:rPr lang="en-US" sz="1400" b="1" dirty="0" err="1">
                <a:effectLst/>
              </a:rPr>
              <a:t>mimo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objektu</a:t>
            </a:r>
            <a:r>
              <a:rPr lang="en-US" sz="1400" dirty="0">
                <a:effectLst/>
              </a:rPr>
              <a:t> (</a:t>
            </a:r>
            <a:r>
              <a:rPr lang="en-US" sz="1400" dirty="0" err="1">
                <a:effectLst/>
              </a:rPr>
              <a:t>voľný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priestor</a:t>
            </a:r>
            <a:r>
              <a:rPr lang="en-US" sz="1400" dirty="0">
                <a:effectLst/>
              </a:rPr>
              <a:t>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d &lt; 0 (</a:t>
            </a:r>
            <a:r>
              <a:rPr lang="en-US" sz="1400" b="1" dirty="0" err="1">
                <a:effectLst/>
              </a:rPr>
              <a:t>Záporná</a:t>
            </a:r>
            <a:r>
              <a:rPr lang="en-US" sz="1400" b="1" dirty="0">
                <a:effectLst/>
              </a:rPr>
              <a:t> </a:t>
            </a:r>
            <a:r>
              <a:rPr lang="en-US" sz="1400" b="1" dirty="0" err="1">
                <a:effectLst/>
              </a:rPr>
              <a:t>hodnota</a:t>
            </a:r>
            <a:r>
              <a:rPr lang="en-US" sz="1400" b="1" dirty="0">
                <a:effectLst/>
              </a:rPr>
              <a:t>):</a:t>
            </a:r>
            <a:r>
              <a:rPr lang="en-US" sz="1400" dirty="0">
                <a:effectLst/>
              </a:rPr>
              <a:t> Bod </a:t>
            </a:r>
            <a:r>
              <a:rPr lang="en-US" sz="1400" dirty="0" err="1">
                <a:effectLst/>
              </a:rPr>
              <a:t>sa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nachádza</a:t>
            </a:r>
            <a:r>
              <a:rPr lang="en-US" sz="1400" dirty="0">
                <a:effectLst/>
              </a:rPr>
              <a:t> </a:t>
            </a:r>
            <a:r>
              <a:rPr lang="en-US" sz="1400" b="1" dirty="0" err="1">
                <a:effectLst/>
              </a:rPr>
              <a:t>vo</a:t>
            </a:r>
            <a:r>
              <a:rPr lang="en-US" sz="1400" b="1" dirty="0">
                <a:effectLst/>
              </a:rPr>
              <a:t> </a:t>
            </a:r>
            <a:r>
              <a:rPr lang="en-US" sz="1400" b="1" dirty="0" err="1">
                <a:effectLst/>
              </a:rPr>
              <a:t>vnútri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objektu</a:t>
            </a:r>
            <a:r>
              <a:rPr lang="en-US" sz="1400" dirty="0">
                <a:effectLst/>
              </a:rPr>
              <a:t> („</a:t>
            </a:r>
            <a:r>
              <a:rPr lang="en-US" sz="1400" dirty="0" err="1">
                <a:effectLst/>
              </a:rPr>
              <a:t>pevná</a:t>
            </a:r>
            <a:r>
              <a:rPr lang="en-US" sz="1400" dirty="0">
                <a:effectLst/>
              </a:rPr>
              <a:t>“ </a:t>
            </a:r>
            <a:r>
              <a:rPr lang="en-US" sz="1400" dirty="0" err="1">
                <a:effectLst/>
              </a:rPr>
              <a:t>hmota</a:t>
            </a:r>
            <a:r>
              <a:rPr lang="en-US" sz="1400" dirty="0">
                <a:effectLst/>
              </a:rPr>
              <a:t>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d = 0 (Nula):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Nachádzame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sa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presne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na</a:t>
            </a:r>
            <a:r>
              <a:rPr lang="en-US" sz="1400" dirty="0">
                <a:effectLst/>
              </a:rPr>
              <a:t> </a:t>
            </a:r>
            <a:r>
              <a:rPr lang="en-US" sz="1400" b="1" dirty="0" err="1">
                <a:effectLst/>
              </a:rPr>
              <a:t>povrchu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objektu</a:t>
            </a:r>
            <a:r>
              <a:rPr lang="en-US" sz="1400" dirty="0">
                <a:effectLst/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effectLst/>
              </a:rPr>
              <a:t>Prečo</a:t>
            </a:r>
            <a:r>
              <a:rPr lang="en-US" sz="1400" b="1" dirty="0">
                <a:effectLst/>
              </a:rPr>
              <a:t> je to </a:t>
            </a:r>
            <a:r>
              <a:rPr lang="en-US" sz="1400" b="1" dirty="0" err="1">
                <a:effectLst/>
              </a:rPr>
              <a:t>ideálne</a:t>
            </a:r>
            <a:r>
              <a:rPr lang="en-US" sz="1400" b="1" dirty="0">
                <a:effectLst/>
              </a:rPr>
              <a:t> pre GPU?</a:t>
            </a:r>
            <a:endParaRPr lang="en-US" sz="14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</a:rPr>
              <a:t>Umožňuje</a:t>
            </a:r>
            <a:r>
              <a:rPr lang="en-US" sz="1400" dirty="0">
                <a:effectLst/>
              </a:rPr>
              <a:t> to </a:t>
            </a:r>
            <a:r>
              <a:rPr lang="en-US" sz="1400" dirty="0" err="1">
                <a:effectLst/>
              </a:rPr>
              <a:t>extrémne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rýchle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výpočty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kolízií</a:t>
            </a:r>
            <a:r>
              <a:rPr lang="en-US" sz="1400" dirty="0">
                <a:effectLst/>
              </a:rPr>
              <a:t> a </a:t>
            </a:r>
            <a:r>
              <a:rPr lang="en-US" sz="1400" dirty="0" err="1">
                <a:effectLst/>
              </a:rPr>
              <a:t>svetla</a:t>
            </a:r>
            <a:r>
              <a:rPr lang="en-US" sz="1400" dirty="0">
                <a:effectLst/>
              </a:rPr>
              <a:t>, </a:t>
            </a:r>
            <a:r>
              <a:rPr lang="en-US" sz="1400" dirty="0" err="1">
                <a:effectLst/>
              </a:rPr>
              <a:t>pretože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grafická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karta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presne</a:t>
            </a:r>
            <a:r>
              <a:rPr lang="en-US" sz="1400" dirty="0">
                <a:effectLst/>
              </a:rPr>
              <a:t> vie, </a:t>
            </a:r>
            <a:r>
              <a:rPr lang="en-US" sz="1400" dirty="0" err="1">
                <a:effectLst/>
              </a:rPr>
              <a:t>ako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hlboko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alebo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ďaleko</a:t>
            </a:r>
            <a:r>
              <a:rPr lang="en-US" sz="1400" dirty="0">
                <a:effectLst/>
              </a:rPr>
              <a:t> od </a:t>
            </a:r>
            <a:r>
              <a:rPr lang="en-US" sz="1400" dirty="0" err="1">
                <a:effectLst/>
              </a:rPr>
              <a:t>povrchu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sa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nachádza</a:t>
            </a:r>
            <a:r>
              <a:rPr lang="en-US" sz="1400" dirty="0">
                <a:effectLst/>
              </a:rPr>
              <a:t> v </a:t>
            </a:r>
            <a:r>
              <a:rPr lang="en-US" sz="1400" dirty="0" err="1">
                <a:effectLst/>
              </a:rPr>
              <a:t>každom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kroku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výpočtu</a:t>
            </a:r>
            <a:r>
              <a:rPr lang="en-US" sz="1400" dirty="0">
                <a:effectLst/>
              </a:rPr>
              <a:t>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505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ok 3" descr="Obrázok, na ktorom je snímka obrazovky, diagram, rad, kruh&#10;&#10;Automaticky generovaný popis">
            <a:extLst>
              <a:ext uri="{FF2B5EF4-FFF2-40B4-BE49-F238E27FC236}">
                <a16:creationId xmlns:a16="http://schemas.microsoft.com/office/drawing/2014/main" id="{AA227EC9-4202-C6AC-71F2-58930E48C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37" y="299509"/>
            <a:ext cx="4694236" cy="6258983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7FA26B2E-8A81-5713-EAA3-5151182AA410}"/>
              </a:ext>
            </a:extLst>
          </p:cNvPr>
          <p:cNvSpPr txBox="1"/>
          <p:nvPr/>
        </p:nvSpPr>
        <p:spPr>
          <a:xfrm>
            <a:off x="6392583" y="2645922"/>
            <a:ext cx="4434721" cy="37104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tx1">
                    <a:alpha val="80000"/>
                  </a:schemeClr>
                </a:solidFill>
              </a:rPr>
              <a:t>Princíp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 „</a:t>
            </a:r>
            <a:r>
              <a:rPr lang="en-US" sz="1400" b="1" dirty="0" err="1">
                <a:solidFill>
                  <a:schemeClr val="tx1">
                    <a:alpha val="80000"/>
                  </a:schemeClr>
                </a:solidFill>
              </a:rPr>
              <a:t>Bezpečnej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alpha val="80000"/>
                  </a:schemeClr>
                </a:solidFill>
              </a:rPr>
              <a:t>zóny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“: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Z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kamery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vysielame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lúč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. V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každom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bode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sa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pýtame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SDF: „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Aká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je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vzdialenosť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k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najbližšiemu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objektu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?“. Ak je to 5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metrov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vieme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že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v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tomto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rádiuse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nie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je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žiadna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prekážka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tx1">
                    <a:alpha val="80000"/>
                  </a:schemeClr>
                </a:solidFill>
              </a:rPr>
              <a:t>Efektívny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alpha val="80000"/>
                  </a:schemeClr>
                </a:solidFill>
              </a:rPr>
              <a:t>skok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: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Algoritmus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okamžite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preskočí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celú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túto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vzdialenosť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. Tieto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kroky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sú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vizualizované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ako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modré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kružnice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(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sféry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)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na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schéme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tx1">
                    <a:alpha val="80000"/>
                  </a:schemeClr>
                </a:solidFill>
              </a:rPr>
              <a:t>Adaptívna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alpha val="80000"/>
                  </a:schemeClr>
                </a:solidFill>
              </a:rPr>
              <a:t>presnosť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: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V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prázdnom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priestore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robí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lúč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alpha val="80000"/>
                  </a:schemeClr>
                </a:solidFill>
              </a:rPr>
              <a:t>obrovské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alpha val="80000"/>
                  </a:schemeClr>
                </a:solidFill>
              </a:rPr>
              <a:t>skoky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(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vysoká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rýchlosť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Pri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povrchu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sa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kroky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alpha val="80000"/>
                  </a:schemeClr>
                </a:solidFill>
              </a:rPr>
              <a:t>mikroskopicky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alpha val="80000"/>
                  </a:schemeClr>
                </a:solidFill>
              </a:rPr>
              <a:t>zmenšujú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(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vysoká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presnosť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tx1">
                    <a:alpha val="80000"/>
                  </a:schemeClr>
                </a:solidFill>
              </a:rPr>
              <a:t>Výsledok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: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Povrch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objektu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nachádzame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s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presnosťou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na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0.001 mm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čo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zabezpečuje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dokonalú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hladkosť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bez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ohľadu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na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priblíženie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kamery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798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BlokTextu 7">
            <a:extLst>
              <a:ext uri="{FF2B5EF4-FFF2-40B4-BE49-F238E27FC236}">
                <a16:creationId xmlns:a16="http://schemas.microsoft.com/office/drawing/2014/main" id="{D75AF969-6E3F-936D-90C3-45F115514B2E}"/>
              </a:ext>
            </a:extLst>
          </p:cNvPr>
          <p:cNvSpPr txBox="1"/>
          <p:nvPr/>
        </p:nvSpPr>
        <p:spPr>
          <a:xfrm>
            <a:off x="779694" y="1731903"/>
            <a:ext cx="3702579" cy="3524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 </a:t>
            </a:r>
            <a:r>
              <a:rPr lang="en-US" sz="1300" dirty="0" err="1">
                <a:solidFill>
                  <a:srgbClr val="FFFFFF"/>
                </a:solidFill>
              </a:rPr>
              <a:t>metóde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raymarch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využívame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cyklus</a:t>
            </a:r>
            <a:r>
              <a:rPr lang="en-US" sz="1300" dirty="0">
                <a:solidFill>
                  <a:srgbClr val="FFFFFF"/>
                </a:solidFill>
              </a:rPr>
              <a:t> for, </a:t>
            </a:r>
            <a:r>
              <a:rPr lang="en-US" sz="1300" dirty="0" err="1">
                <a:solidFill>
                  <a:srgbClr val="FFFFFF"/>
                </a:solidFill>
              </a:rPr>
              <a:t>ktorý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predstavuje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naše</a:t>
            </a:r>
            <a:r>
              <a:rPr lang="en-US" sz="1300" dirty="0">
                <a:solidFill>
                  <a:srgbClr val="FFFFFF"/>
                </a:solidFill>
              </a:rPr>
              <a:t> „</a:t>
            </a:r>
            <a:r>
              <a:rPr lang="en-US" sz="1300" dirty="0" err="1">
                <a:solidFill>
                  <a:srgbClr val="FFFFFF"/>
                </a:solidFill>
              </a:rPr>
              <a:t>skoky</a:t>
            </a:r>
            <a:r>
              <a:rPr lang="en-US" sz="1300" dirty="0">
                <a:solidFill>
                  <a:srgbClr val="FFFFFF"/>
                </a:solidFill>
              </a:rPr>
              <a:t>“ v </a:t>
            </a:r>
            <a:r>
              <a:rPr lang="en-US" sz="1300" dirty="0" err="1">
                <a:solidFill>
                  <a:srgbClr val="FFFFFF"/>
                </a:solidFill>
              </a:rPr>
              <a:t>priestore</a:t>
            </a:r>
            <a:r>
              <a:rPr lang="en-US" sz="1300" dirty="0">
                <a:solidFill>
                  <a:srgbClr val="FFFFFF"/>
                </a:solidFill>
              </a:rPr>
              <a:t>. Aby </a:t>
            </a:r>
            <a:r>
              <a:rPr lang="en-US" sz="1300" dirty="0" err="1">
                <a:solidFill>
                  <a:srgbClr val="FFFFFF"/>
                </a:solidFill>
              </a:rPr>
              <a:t>bol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výpočet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efektívny</a:t>
            </a:r>
            <a:r>
              <a:rPr lang="en-US" sz="1300" dirty="0">
                <a:solidFill>
                  <a:srgbClr val="FFFFFF"/>
                </a:solidFill>
              </a:rPr>
              <a:t> a </a:t>
            </a:r>
            <a:r>
              <a:rPr lang="en-US" sz="1300" dirty="0" err="1">
                <a:solidFill>
                  <a:srgbClr val="FFFFFF"/>
                </a:solidFill>
              </a:rPr>
              <a:t>stabilný</a:t>
            </a:r>
            <a:r>
              <a:rPr lang="en-US" sz="1300" dirty="0">
                <a:solidFill>
                  <a:srgbClr val="FFFFFF"/>
                </a:solidFill>
              </a:rPr>
              <a:t>, </a:t>
            </a:r>
            <a:r>
              <a:rPr lang="en-US" sz="1300" dirty="0" err="1">
                <a:solidFill>
                  <a:srgbClr val="FFFFFF"/>
                </a:solidFill>
              </a:rPr>
              <a:t>lúč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ukončujeme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podľa</a:t>
            </a:r>
            <a:r>
              <a:rPr lang="en-US" sz="1300" dirty="0">
                <a:solidFill>
                  <a:srgbClr val="FFFFFF"/>
                </a:solidFill>
              </a:rPr>
              <a:t> troch </a:t>
            </a:r>
            <a:r>
              <a:rPr lang="en-US" sz="1300" dirty="0" err="1">
                <a:solidFill>
                  <a:srgbClr val="FFFFFF"/>
                </a:solidFill>
              </a:rPr>
              <a:t>prísnych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pravidiel</a:t>
            </a:r>
            <a:r>
              <a:rPr lang="en-US" sz="1300" dirty="0">
                <a:solidFill>
                  <a:srgbClr val="FFFFFF"/>
                </a:solidFill>
              </a:rPr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1. Hit (</a:t>
            </a:r>
            <a:r>
              <a:rPr lang="en-US" sz="1300" b="1" dirty="0" err="1">
                <a:solidFill>
                  <a:srgbClr val="FFFFFF"/>
                </a:solidFill>
              </a:rPr>
              <a:t>Zásah</a:t>
            </a:r>
            <a:r>
              <a:rPr lang="en-US" sz="1300" b="1" dirty="0">
                <a:solidFill>
                  <a:srgbClr val="FFFFFF"/>
                </a:solidFill>
              </a:rPr>
              <a:t>) – d &lt; EPSILON:</a:t>
            </a:r>
            <a:r>
              <a:rPr lang="en-US" sz="1300" dirty="0">
                <a:solidFill>
                  <a:srgbClr val="FFFFFF"/>
                </a:solidFill>
              </a:rPr>
              <a:t> Ak je </a:t>
            </a:r>
            <a:r>
              <a:rPr lang="en-US" sz="1300" dirty="0" err="1">
                <a:solidFill>
                  <a:srgbClr val="FFFFFF"/>
                </a:solidFill>
              </a:rPr>
              <a:t>vzdialenosť</a:t>
            </a:r>
            <a:r>
              <a:rPr lang="en-US" sz="1300" dirty="0">
                <a:solidFill>
                  <a:srgbClr val="FFFFFF"/>
                </a:solidFill>
              </a:rPr>
              <a:t> k </a:t>
            </a:r>
            <a:r>
              <a:rPr lang="en-US" sz="1300" dirty="0" err="1">
                <a:solidFill>
                  <a:srgbClr val="FFFFFF"/>
                </a:solidFill>
              </a:rPr>
              <a:t>objektu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menšia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ako</a:t>
            </a:r>
            <a:r>
              <a:rPr lang="en-US" sz="1300" dirty="0">
                <a:solidFill>
                  <a:srgbClr val="FFFFFF"/>
                </a:solidFill>
              </a:rPr>
              <a:t> 0.001, </a:t>
            </a:r>
            <a:r>
              <a:rPr lang="en-US" sz="1300" dirty="0" err="1">
                <a:solidFill>
                  <a:srgbClr val="FFFFFF"/>
                </a:solidFill>
              </a:rPr>
              <a:t>považujeme</a:t>
            </a:r>
            <a:r>
              <a:rPr lang="en-US" sz="1300" dirty="0">
                <a:solidFill>
                  <a:srgbClr val="FFFFFF"/>
                </a:solidFill>
              </a:rPr>
              <a:t> to za </a:t>
            </a:r>
            <a:r>
              <a:rPr lang="en-US" sz="1300" dirty="0" err="1">
                <a:solidFill>
                  <a:srgbClr val="FFFFFF"/>
                </a:solidFill>
              </a:rPr>
              <a:t>dotyk</a:t>
            </a:r>
            <a:r>
              <a:rPr lang="en-US" sz="1300" dirty="0">
                <a:solidFill>
                  <a:srgbClr val="FFFFFF"/>
                </a:solidFill>
              </a:rPr>
              <a:t> s </a:t>
            </a:r>
            <a:r>
              <a:rPr lang="en-US" sz="1300" dirty="0" err="1">
                <a:solidFill>
                  <a:srgbClr val="FFFFFF"/>
                </a:solidFill>
              </a:rPr>
              <a:t>povrchom</a:t>
            </a:r>
            <a:r>
              <a:rPr lang="en-US" sz="1300" dirty="0">
                <a:solidFill>
                  <a:srgbClr val="FFFFFF"/>
                </a:solidFill>
              </a:rPr>
              <a:t>. </a:t>
            </a:r>
            <a:r>
              <a:rPr lang="en-US" sz="1300" dirty="0" err="1">
                <a:solidFill>
                  <a:srgbClr val="FFFFFF"/>
                </a:solidFill>
              </a:rPr>
              <a:t>Vraciame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celkovú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prejdenú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dráhu</a:t>
            </a:r>
            <a:r>
              <a:rPr lang="en-US" sz="1300" dirty="0">
                <a:solidFill>
                  <a:srgbClr val="FFFFFF"/>
                </a:solidFill>
              </a:rPr>
              <a:t> t pre </a:t>
            </a:r>
            <a:r>
              <a:rPr lang="en-US" sz="1300" dirty="0" err="1">
                <a:solidFill>
                  <a:srgbClr val="FFFFFF"/>
                </a:solidFill>
              </a:rPr>
              <a:t>výpočet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farby</a:t>
            </a:r>
            <a:r>
              <a:rPr lang="en-US" sz="1300" dirty="0">
                <a:solidFill>
                  <a:srgbClr val="FFFFFF"/>
                </a:solidFill>
              </a:rPr>
              <a:t> a </a:t>
            </a:r>
            <a:r>
              <a:rPr lang="en-US" sz="1300" dirty="0" err="1">
                <a:solidFill>
                  <a:srgbClr val="FFFFFF"/>
                </a:solidFill>
              </a:rPr>
              <a:t>tieňovania</a:t>
            </a:r>
            <a:r>
              <a:rPr lang="en-US" sz="1300" dirty="0">
                <a:solidFill>
                  <a:srgbClr val="FFFFFF"/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2. Miss (</a:t>
            </a:r>
            <a:r>
              <a:rPr lang="en-US" sz="1300" b="1" dirty="0" err="1">
                <a:solidFill>
                  <a:srgbClr val="FFFFFF"/>
                </a:solidFill>
              </a:rPr>
              <a:t>Minutie</a:t>
            </a:r>
            <a:r>
              <a:rPr lang="en-US" sz="1300" b="1" dirty="0">
                <a:solidFill>
                  <a:srgbClr val="FFFFFF"/>
                </a:solidFill>
              </a:rPr>
              <a:t>) – t &gt; MAX_DIST: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Lúč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prekročil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maximálnu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definovanú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vzdialenosť</a:t>
            </a:r>
            <a:r>
              <a:rPr lang="en-US" sz="1300" dirty="0">
                <a:solidFill>
                  <a:srgbClr val="FFFFFF"/>
                </a:solidFill>
              </a:rPr>
              <a:t> (</a:t>
            </a:r>
            <a:r>
              <a:rPr lang="en-US" sz="1300" dirty="0" err="1">
                <a:solidFill>
                  <a:srgbClr val="FFFFFF"/>
                </a:solidFill>
              </a:rPr>
              <a:t>napr</a:t>
            </a:r>
            <a:r>
              <a:rPr lang="en-US" sz="1300" dirty="0">
                <a:solidFill>
                  <a:srgbClr val="FFFFFF"/>
                </a:solidFill>
              </a:rPr>
              <a:t>. 100 m) a </a:t>
            </a:r>
            <a:r>
              <a:rPr lang="en-US" sz="1300" dirty="0" err="1">
                <a:solidFill>
                  <a:srgbClr val="FFFFFF"/>
                </a:solidFill>
              </a:rPr>
              <a:t>letí</a:t>
            </a:r>
            <a:r>
              <a:rPr lang="en-US" sz="1300" dirty="0">
                <a:solidFill>
                  <a:srgbClr val="FFFFFF"/>
                </a:solidFill>
              </a:rPr>
              <a:t> do </a:t>
            </a:r>
            <a:r>
              <a:rPr lang="en-US" sz="1300" dirty="0" err="1">
                <a:solidFill>
                  <a:srgbClr val="FFFFFF"/>
                </a:solidFill>
              </a:rPr>
              <a:t>voľného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vesmíru</a:t>
            </a:r>
            <a:r>
              <a:rPr lang="en-US" sz="1300" dirty="0">
                <a:solidFill>
                  <a:srgbClr val="FFFFFF"/>
                </a:solidFill>
              </a:rPr>
              <a:t>. </a:t>
            </a:r>
            <a:r>
              <a:rPr lang="en-US" sz="1300" dirty="0" err="1">
                <a:solidFill>
                  <a:srgbClr val="FFFFFF"/>
                </a:solidFill>
              </a:rPr>
              <a:t>Vykresľujeme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farbu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pozadia</a:t>
            </a:r>
            <a:r>
              <a:rPr lang="en-US" sz="1300" dirty="0">
                <a:solidFill>
                  <a:srgbClr val="FFFFFF"/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3. Limit – MAX_STEPS: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Bezpečnostná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poistka</a:t>
            </a:r>
            <a:r>
              <a:rPr lang="en-US" sz="1300" dirty="0">
                <a:solidFill>
                  <a:srgbClr val="FFFFFF"/>
                </a:solidFill>
              </a:rPr>
              <a:t> (</a:t>
            </a:r>
            <a:r>
              <a:rPr lang="en-US" sz="1300" dirty="0" err="1">
                <a:solidFill>
                  <a:srgbClr val="FFFFFF"/>
                </a:solidFill>
              </a:rPr>
              <a:t>napr</a:t>
            </a:r>
            <a:r>
              <a:rPr lang="en-US" sz="1300" dirty="0">
                <a:solidFill>
                  <a:srgbClr val="FFFFFF"/>
                </a:solidFill>
              </a:rPr>
              <a:t>. 128 </a:t>
            </a:r>
            <a:r>
              <a:rPr lang="en-US" sz="1300" dirty="0" err="1">
                <a:solidFill>
                  <a:srgbClr val="FFFFFF"/>
                </a:solidFill>
              </a:rPr>
              <a:t>krokov</a:t>
            </a:r>
            <a:r>
              <a:rPr lang="en-US" sz="1300" dirty="0">
                <a:solidFill>
                  <a:srgbClr val="FFFFFF"/>
                </a:solidFill>
              </a:rPr>
              <a:t>). </a:t>
            </a:r>
            <a:r>
              <a:rPr lang="en-US" sz="1300" dirty="0" err="1">
                <a:solidFill>
                  <a:srgbClr val="FFFFFF"/>
                </a:solidFill>
              </a:rPr>
              <a:t>Zabraňuje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nekonečným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výpočtom</a:t>
            </a:r>
            <a:r>
              <a:rPr lang="en-US" sz="1300" dirty="0">
                <a:solidFill>
                  <a:srgbClr val="FFFFFF"/>
                </a:solidFill>
              </a:rPr>
              <a:t> a </a:t>
            </a:r>
            <a:r>
              <a:rPr lang="en-US" sz="1300" dirty="0" err="1">
                <a:solidFill>
                  <a:srgbClr val="FFFFFF"/>
                </a:solidFill>
              </a:rPr>
              <a:t>nadmernému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zaťaženiu</a:t>
            </a:r>
            <a:r>
              <a:rPr lang="en-US" sz="1300" dirty="0">
                <a:solidFill>
                  <a:srgbClr val="FFFFFF"/>
                </a:solidFill>
              </a:rPr>
              <a:t> GPU v </a:t>
            </a:r>
            <a:r>
              <a:rPr lang="en-US" sz="1300" dirty="0" err="1">
                <a:solidFill>
                  <a:srgbClr val="FFFFFF"/>
                </a:solidFill>
              </a:rPr>
              <a:t>extrémne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zložitých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oblastiach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scény</a:t>
            </a:r>
            <a:r>
              <a:rPr lang="en-US" sz="1300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32D3D31A-3828-ECE7-9C51-3B2D5CBDD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304" y="799845"/>
            <a:ext cx="5407002" cy="525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38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ok 4" descr="Obrázok, na ktorom je kruh, elektrická modrá&#10;&#10;Automaticky generovaný popis">
            <a:extLst>
              <a:ext uri="{FF2B5EF4-FFF2-40B4-BE49-F238E27FC236}">
                <a16:creationId xmlns:a16="http://schemas.microsoft.com/office/drawing/2014/main" id="{8FA64D38-7AC4-6FB5-57D4-E9ADF44A2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84" y="468818"/>
            <a:ext cx="4297680" cy="337367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ok 3" descr="Obrázok, na ktorom je text, snímka obrazovky, písmo&#10;&#10;Automaticky generovaný popis">
            <a:extLst>
              <a:ext uri="{FF2B5EF4-FFF2-40B4-BE49-F238E27FC236}">
                <a16:creationId xmlns:a16="http://schemas.microsoft.com/office/drawing/2014/main" id="{4575E7F4-E994-7280-76DD-30BB0732A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335" y="188565"/>
            <a:ext cx="4970986" cy="2236944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15844A9F-0382-6C8E-4A0B-E84B87677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8813" y="5860515"/>
            <a:ext cx="4284420" cy="34275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4552052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F7A20245-2822-00D1-DB52-E9053A2D6E90}"/>
              </a:ext>
            </a:extLst>
          </p:cNvPr>
          <p:cNvSpPr txBox="1"/>
          <p:nvPr/>
        </p:nvSpPr>
        <p:spPr>
          <a:xfrm>
            <a:off x="7007758" y="2614074"/>
            <a:ext cx="5184242" cy="1455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effectLst/>
              </a:rPr>
              <a:t>Od </a:t>
            </a:r>
            <a:r>
              <a:rPr lang="en-US" sz="1400" b="1" dirty="0" err="1">
                <a:effectLst/>
              </a:rPr>
              <a:t>plochého</a:t>
            </a:r>
            <a:r>
              <a:rPr lang="en-US" sz="1400" b="1" dirty="0">
                <a:effectLst/>
              </a:rPr>
              <a:t> </a:t>
            </a:r>
            <a:r>
              <a:rPr lang="en-US" sz="1400" b="1" dirty="0" err="1">
                <a:effectLst/>
              </a:rPr>
              <a:t>kruhu</a:t>
            </a:r>
            <a:r>
              <a:rPr lang="en-US" sz="1400" b="1" dirty="0">
                <a:effectLst/>
              </a:rPr>
              <a:t> k 3D </a:t>
            </a:r>
            <a:r>
              <a:rPr lang="en-US" sz="1400" b="1" dirty="0" err="1">
                <a:effectLst/>
              </a:rPr>
              <a:t>objemu</a:t>
            </a:r>
            <a:r>
              <a:rPr lang="en-US" sz="1400" b="1" dirty="0">
                <a:effectLst/>
              </a:rPr>
              <a:t>: Sila </a:t>
            </a:r>
            <a:r>
              <a:rPr lang="en-US" sz="1400" b="1" dirty="0" err="1">
                <a:effectLst/>
              </a:rPr>
              <a:t>Gradientu</a:t>
            </a:r>
            <a:endParaRPr lang="en-US" sz="14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effectLst/>
              </a:rPr>
              <a:t>Problém</a:t>
            </a:r>
            <a:r>
              <a:rPr lang="en-US" sz="1400" b="1" dirty="0">
                <a:effectLst/>
              </a:rPr>
              <a:t>:</a:t>
            </a:r>
            <a:r>
              <a:rPr lang="en-US" sz="1400" dirty="0">
                <a:effectLst/>
              </a:rPr>
              <a:t> Bez </a:t>
            </a:r>
            <a:r>
              <a:rPr lang="en-US" sz="1400" dirty="0" err="1">
                <a:effectLst/>
              </a:rPr>
              <a:t>informácie</a:t>
            </a:r>
            <a:r>
              <a:rPr lang="en-US" sz="1400" dirty="0">
                <a:effectLst/>
              </a:rPr>
              <a:t> o </a:t>
            </a:r>
            <a:r>
              <a:rPr lang="en-US" sz="1400" dirty="0" err="1">
                <a:effectLst/>
              </a:rPr>
              <a:t>sklone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povrchu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vidíme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len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plochú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siluetu</a:t>
            </a:r>
            <a:r>
              <a:rPr lang="en-US" sz="1400" dirty="0">
                <a:effectLst/>
              </a:rPr>
              <a:t>. Aby </a:t>
            </a:r>
            <a:r>
              <a:rPr lang="en-US" sz="1400" dirty="0" err="1">
                <a:effectLst/>
              </a:rPr>
              <a:t>sme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mohli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aplikovať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svetlo</a:t>
            </a:r>
            <a:r>
              <a:rPr lang="en-US" sz="1400" dirty="0">
                <a:effectLst/>
              </a:rPr>
              <a:t>, </a:t>
            </a:r>
            <a:r>
              <a:rPr lang="en-US" sz="1400" dirty="0" err="1">
                <a:effectLst/>
              </a:rPr>
              <a:t>musíme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vedieť</a:t>
            </a:r>
            <a:r>
              <a:rPr lang="en-US" sz="1400" dirty="0">
                <a:effectLst/>
              </a:rPr>
              <a:t>, </a:t>
            </a:r>
            <a:r>
              <a:rPr lang="en-US" sz="1400" dirty="0" err="1">
                <a:effectLst/>
              </a:rPr>
              <a:t>kam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smeruje</a:t>
            </a:r>
            <a:r>
              <a:rPr lang="en-US" sz="1400" dirty="0">
                <a:effectLst/>
              </a:rPr>
              <a:t> „</a:t>
            </a:r>
            <a:r>
              <a:rPr lang="en-US" sz="1400" dirty="0" err="1">
                <a:effectLst/>
              </a:rPr>
              <a:t>tvár</a:t>
            </a:r>
            <a:r>
              <a:rPr lang="en-US" sz="1400" dirty="0">
                <a:effectLst/>
              </a:rPr>
              <a:t>“ </a:t>
            </a:r>
            <a:r>
              <a:rPr lang="en-US" sz="1400" dirty="0" err="1">
                <a:effectLst/>
              </a:rPr>
              <a:t>objektu</a:t>
            </a:r>
            <a:r>
              <a:rPr lang="en-US" sz="1400" dirty="0">
                <a:effectLst/>
              </a:rPr>
              <a:t> — </a:t>
            </a:r>
            <a:r>
              <a:rPr lang="en-US" sz="1400" dirty="0" err="1">
                <a:effectLst/>
              </a:rPr>
              <a:t>potrebujeme</a:t>
            </a:r>
            <a:r>
              <a:rPr lang="en-US" sz="1400" dirty="0">
                <a:effectLst/>
              </a:rPr>
              <a:t> </a:t>
            </a:r>
            <a:r>
              <a:rPr lang="en-US" sz="1400" b="1" dirty="0" err="1">
                <a:effectLst/>
              </a:rPr>
              <a:t>Normálu</a:t>
            </a:r>
            <a:r>
              <a:rPr lang="en-US" sz="1400" dirty="0">
                <a:effectLst/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effectLst/>
              </a:rPr>
              <a:t>Magický</a:t>
            </a:r>
            <a:r>
              <a:rPr lang="en-US" sz="1400" b="1" dirty="0">
                <a:effectLst/>
              </a:rPr>
              <a:t> Gradient:</a:t>
            </a:r>
            <a:r>
              <a:rPr lang="en-US" sz="1400" dirty="0">
                <a:effectLst/>
              </a:rPr>
              <a:t> V Raymarching-u </a:t>
            </a:r>
            <a:r>
              <a:rPr lang="en-US" sz="1400" dirty="0" err="1">
                <a:effectLst/>
              </a:rPr>
              <a:t>nepotrebujeme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poznať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analytickú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geometriu</a:t>
            </a:r>
            <a:r>
              <a:rPr lang="en-US" sz="1400" dirty="0">
                <a:effectLst/>
              </a:rPr>
              <a:t>. </a:t>
            </a:r>
            <a:r>
              <a:rPr lang="en-US" sz="1400" dirty="0" err="1">
                <a:effectLst/>
              </a:rPr>
              <a:t>Normálu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získame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pomocou</a:t>
            </a:r>
            <a:r>
              <a:rPr lang="en-US" sz="1400" dirty="0">
                <a:effectLst/>
              </a:rPr>
              <a:t> </a:t>
            </a:r>
            <a:r>
              <a:rPr lang="en-US" sz="1400" b="1" dirty="0" err="1">
                <a:effectLst/>
              </a:rPr>
              <a:t>Gradientu</a:t>
            </a:r>
            <a:r>
              <a:rPr lang="en-US" sz="1400" dirty="0">
                <a:effectLst/>
              </a:rPr>
              <a:t> (</a:t>
            </a:r>
            <a:r>
              <a:rPr lang="en-US" sz="1400" dirty="0" err="1">
                <a:effectLst/>
              </a:rPr>
              <a:t>zmeny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vzdialenosti</a:t>
            </a:r>
            <a:r>
              <a:rPr lang="en-US" sz="1400" dirty="0">
                <a:effectLst/>
              </a:rPr>
              <a:t> v </a:t>
            </a:r>
            <a:r>
              <a:rPr lang="en-US" sz="1400" dirty="0" err="1">
                <a:effectLst/>
              </a:rPr>
              <a:t>okolí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bodu</a:t>
            </a:r>
            <a:r>
              <a:rPr lang="en-US" sz="1400" dirty="0">
                <a:effectLst/>
              </a:rPr>
              <a:t>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effectLst/>
              </a:rPr>
              <a:t>Princíp</a:t>
            </a:r>
            <a:r>
              <a:rPr lang="en-US" sz="1400" b="1" dirty="0">
                <a:effectLst/>
              </a:rPr>
              <a:t> </a:t>
            </a:r>
            <a:r>
              <a:rPr lang="en-US" sz="1400" b="1" dirty="0" err="1">
                <a:effectLst/>
              </a:rPr>
              <a:t>metódy</a:t>
            </a:r>
            <a:r>
              <a:rPr lang="en-US" sz="1400" b="1" dirty="0">
                <a:effectLst/>
              </a:rPr>
              <a:t> </a:t>
            </a:r>
            <a:r>
              <a:rPr lang="en-US" sz="1400" b="1" dirty="0" err="1">
                <a:effectLst/>
              </a:rPr>
              <a:t>getNormal</a:t>
            </a:r>
            <a:r>
              <a:rPr lang="en-US" sz="1400" b="1" dirty="0">
                <a:effectLst/>
              </a:rPr>
              <a:t>:</a:t>
            </a:r>
            <a:endParaRPr lang="en-US" sz="1400" dirty="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</a:rPr>
              <a:t>Bod </a:t>
            </a:r>
            <a:r>
              <a:rPr lang="en-US" sz="1400" dirty="0" err="1">
                <a:effectLst/>
              </a:rPr>
              <a:t>dotyku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jemne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posunieme</a:t>
            </a:r>
            <a:r>
              <a:rPr lang="en-US" sz="1400" dirty="0">
                <a:effectLst/>
              </a:rPr>
              <a:t> o </a:t>
            </a:r>
            <a:r>
              <a:rPr lang="en-US" sz="1400" dirty="0" err="1">
                <a:effectLst/>
              </a:rPr>
              <a:t>malú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hodnotu</a:t>
            </a:r>
            <a:r>
              <a:rPr lang="en-US" sz="1400" dirty="0">
                <a:effectLst/>
              </a:rPr>
              <a:t> $\epsilon$ (0.001) v troch </a:t>
            </a:r>
            <a:r>
              <a:rPr lang="en-US" sz="1400" dirty="0" err="1">
                <a:effectLst/>
              </a:rPr>
              <a:t>osiach</a:t>
            </a:r>
            <a:r>
              <a:rPr lang="en-US" sz="1400" dirty="0">
                <a:effectLst/>
              </a:rPr>
              <a:t> ($x, y, z$).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</a:rPr>
              <a:t>Porovnáme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zmenu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vzdialenosti</a:t>
            </a:r>
            <a:r>
              <a:rPr lang="en-US" sz="1400" dirty="0">
                <a:effectLst/>
              </a:rPr>
              <a:t>: „</a:t>
            </a:r>
            <a:r>
              <a:rPr lang="en-US" sz="1400" dirty="0" err="1">
                <a:effectLst/>
              </a:rPr>
              <a:t>Zväčšila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sa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alebo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zmenšila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vzdialenosť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pri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tomto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posune</a:t>
            </a:r>
            <a:r>
              <a:rPr lang="en-US" sz="1400" dirty="0">
                <a:effectLst/>
              </a:rPr>
              <a:t>?“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</a:rPr>
              <a:t>Výsledný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rozdiel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nám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udáva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smer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kolmice</a:t>
            </a:r>
            <a:r>
              <a:rPr lang="en-US" sz="1400" dirty="0">
                <a:effectLst/>
              </a:rPr>
              <a:t> k </a:t>
            </a:r>
            <a:r>
              <a:rPr lang="en-US" sz="1400" dirty="0" err="1">
                <a:effectLst/>
              </a:rPr>
              <a:t>povrchu</a:t>
            </a:r>
            <a:r>
              <a:rPr lang="en-US" sz="1400" dirty="0">
                <a:effectLst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18329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2799EFCA-C325-BD2C-8289-D214495FF363}"/>
              </a:ext>
            </a:extLst>
          </p:cNvPr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Výsledok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Vďaka</a:t>
            </a:r>
            <a:r>
              <a:rPr lang="en-US" sz="2000" dirty="0"/>
              <a:t> </a:t>
            </a:r>
            <a:r>
              <a:rPr lang="en-US" sz="2000" dirty="0" err="1"/>
              <a:t>tomuto</a:t>
            </a:r>
            <a:r>
              <a:rPr lang="en-US" sz="2000" dirty="0"/>
              <a:t> „</a:t>
            </a:r>
            <a:r>
              <a:rPr lang="en-US" sz="2000" dirty="0" err="1"/>
              <a:t>ohmataniu</a:t>
            </a:r>
            <a:r>
              <a:rPr lang="en-US" sz="2000" dirty="0"/>
              <a:t>“ </a:t>
            </a:r>
            <a:r>
              <a:rPr lang="en-US" sz="2000" dirty="0" err="1"/>
              <a:t>priestoru</a:t>
            </a:r>
            <a:r>
              <a:rPr lang="en-US" sz="2000" dirty="0"/>
              <a:t> </a:t>
            </a:r>
            <a:r>
              <a:rPr lang="en-US" sz="2000" dirty="0" err="1"/>
              <a:t>okolo</a:t>
            </a:r>
            <a:r>
              <a:rPr lang="en-US" sz="2000" dirty="0"/>
              <a:t> </a:t>
            </a:r>
            <a:r>
              <a:rPr lang="en-US" sz="2000" dirty="0" err="1"/>
              <a:t>bodu</a:t>
            </a:r>
            <a:r>
              <a:rPr lang="en-US" sz="2000" dirty="0"/>
              <a:t> </a:t>
            </a:r>
            <a:r>
              <a:rPr lang="en-US" sz="2000" dirty="0" err="1"/>
              <a:t>dotyku</a:t>
            </a:r>
            <a:r>
              <a:rPr lang="en-US" sz="2000" dirty="0"/>
              <a:t> </a:t>
            </a:r>
            <a:r>
              <a:rPr lang="en-US" sz="2000" dirty="0" err="1"/>
              <a:t>presne</a:t>
            </a:r>
            <a:r>
              <a:rPr lang="en-US" sz="2000" dirty="0"/>
              <a:t> </a:t>
            </a:r>
            <a:r>
              <a:rPr lang="en-US" sz="2000" dirty="0" err="1"/>
              <a:t>vieme</a:t>
            </a:r>
            <a:r>
              <a:rPr lang="en-US" sz="2000" dirty="0"/>
              <a:t>, </a:t>
            </a:r>
            <a:r>
              <a:rPr lang="en-US" sz="2000" dirty="0" err="1"/>
              <a:t>ako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objekt</a:t>
            </a:r>
            <a:r>
              <a:rPr lang="en-US" sz="2000" dirty="0"/>
              <a:t> </a:t>
            </a:r>
            <a:r>
              <a:rPr lang="en-US" sz="2000" dirty="0" err="1"/>
              <a:t>dopadá</a:t>
            </a:r>
            <a:r>
              <a:rPr lang="en-US" sz="2000" dirty="0"/>
              <a:t> </a:t>
            </a:r>
            <a:r>
              <a:rPr lang="en-US" sz="2000" dirty="0" err="1"/>
              <a:t>svetlo</a:t>
            </a:r>
            <a:r>
              <a:rPr lang="en-US" sz="2000" dirty="0"/>
              <a:t>, </a:t>
            </a:r>
            <a:r>
              <a:rPr lang="en-US" sz="2000" dirty="0" err="1"/>
              <a:t>čo</a:t>
            </a:r>
            <a:r>
              <a:rPr lang="en-US" sz="2000" dirty="0"/>
              <a:t> </a:t>
            </a:r>
            <a:r>
              <a:rPr lang="en-US" sz="2000" dirty="0" err="1"/>
              <a:t>vytvára</a:t>
            </a:r>
            <a:r>
              <a:rPr lang="en-US" sz="2000" dirty="0"/>
              <a:t> </a:t>
            </a:r>
            <a:r>
              <a:rPr lang="en-US" sz="2000" dirty="0" err="1"/>
              <a:t>skutočný</a:t>
            </a:r>
            <a:r>
              <a:rPr lang="en-US" sz="2000" dirty="0"/>
              <a:t> 3D </a:t>
            </a:r>
            <a:r>
              <a:rPr lang="en-US" sz="2000" dirty="0" err="1"/>
              <a:t>efekt</a:t>
            </a:r>
            <a:r>
              <a:rPr lang="en-US" sz="2000" dirty="0"/>
              <a:t> a </a:t>
            </a:r>
            <a:r>
              <a:rPr lang="en-US" sz="2000" dirty="0" err="1"/>
              <a:t>objem</a:t>
            </a:r>
            <a:r>
              <a:rPr lang="en-US" sz="2000" dirty="0"/>
              <a:t>.</a:t>
            </a:r>
          </a:p>
        </p:txBody>
      </p:sp>
      <p:pic>
        <p:nvPicPr>
          <p:cNvPr id="4" name="Obrázok 3" descr="Obrázok, na ktorom je kruh, guľa&#10;&#10;Automaticky generovaný popis">
            <a:extLst>
              <a:ext uri="{FF2B5EF4-FFF2-40B4-BE49-F238E27FC236}">
                <a16:creationId xmlns:a16="http://schemas.microsoft.com/office/drawing/2014/main" id="{C36CF83D-6AB7-9340-1A64-C3FE927413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49" r="944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247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lokTextu 6">
            <a:extLst>
              <a:ext uri="{FF2B5EF4-FFF2-40B4-BE49-F238E27FC236}">
                <a16:creationId xmlns:a16="http://schemas.microsoft.com/office/drawing/2014/main" id="{E902DB4F-C4F1-C159-6771-6EDFF5CE98E9}"/>
              </a:ext>
            </a:extLst>
          </p:cNvPr>
          <p:cNvSpPr txBox="1"/>
          <p:nvPr/>
        </p:nvSpPr>
        <p:spPr>
          <a:xfrm>
            <a:off x="97867" y="2814956"/>
            <a:ext cx="269881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sz="1400" b="1" dirty="0"/>
              <a:t>Súbor:</a:t>
            </a:r>
            <a:r>
              <a:rPr lang="sk-SK" sz="1400" dirty="0"/>
              <a:t> Demo3_SphereAndBox.java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sz="1400" b="1" dirty="0"/>
              <a:t>Kľúčová myšlienka:</a:t>
            </a:r>
            <a:r>
              <a:rPr lang="sk-SK" sz="1400" dirty="0"/>
              <a:t> Spojenie dvoch geometrií pomocou min(</a:t>
            </a:r>
            <a:r>
              <a:rPr lang="sk-SK" sz="1400" dirty="0" err="1"/>
              <a:t>sphere</a:t>
            </a:r>
            <a:r>
              <a:rPr lang="sk-SK" sz="1400" dirty="0"/>
              <a:t>, box).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sz="1400" b="1" dirty="0"/>
              <a:t>Logika:</a:t>
            </a:r>
            <a:r>
              <a:rPr lang="sk-SK" sz="1400" dirty="0"/>
              <a:t> Grafická karta porovnáva vzdialenosti a vykresľuje objekt, ktorý je bližšie ku kamere.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sz="1400" b="1" dirty="0"/>
              <a:t>Výsledok:</a:t>
            </a:r>
            <a:r>
              <a:rPr lang="sk-SK" sz="1400" dirty="0"/>
              <a:t> Dokonale ostrý spoj, ktorý je základom pre </a:t>
            </a:r>
            <a:r>
              <a:rPr lang="sk-SK" sz="1400" b="1" dirty="0"/>
              <a:t>CSG modelovanie</a:t>
            </a:r>
            <a:r>
              <a:rPr lang="sk-SK" sz="1400" dirty="0"/>
              <a:t> (</a:t>
            </a:r>
            <a:r>
              <a:rPr lang="sk-SK" sz="1400" dirty="0" err="1"/>
              <a:t>Constructive</a:t>
            </a:r>
            <a:r>
              <a:rPr lang="sk-SK" sz="1400" dirty="0"/>
              <a:t> </a:t>
            </a:r>
            <a:r>
              <a:rPr lang="sk-SK" sz="1400" dirty="0" err="1"/>
              <a:t>Solid</a:t>
            </a:r>
            <a:r>
              <a:rPr lang="sk-SK" sz="1400" dirty="0"/>
              <a:t> </a:t>
            </a:r>
            <a:r>
              <a:rPr lang="sk-SK" sz="1400" dirty="0" err="1"/>
              <a:t>Geometry</a:t>
            </a:r>
            <a:r>
              <a:rPr lang="sk-SK" sz="1400" dirty="0"/>
              <a:t>).</a:t>
            </a:r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89726D81-4666-05F8-951C-999658F7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24" y="158521"/>
            <a:ext cx="2554158" cy="2496545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AF52EEBF-CA64-7A25-A5C6-36604CFF5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626" y="158521"/>
            <a:ext cx="2661606" cy="2496545"/>
          </a:xfrm>
          <a:prstGeom prst="rect">
            <a:avLst/>
          </a:prstGeom>
        </p:spPr>
      </p:pic>
      <p:sp>
        <p:nvSpPr>
          <p:cNvPr id="11" name="BlokTextu 10">
            <a:extLst>
              <a:ext uri="{FF2B5EF4-FFF2-40B4-BE49-F238E27FC236}">
                <a16:creationId xmlns:a16="http://schemas.microsoft.com/office/drawing/2014/main" id="{C32D71D8-D941-02AC-9A5A-3A11EFD63C54}"/>
              </a:ext>
            </a:extLst>
          </p:cNvPr>
          <p:cNvSpPr txBox="1"/>
          <p:nvPr/>
        </p:nvSpPr>
        <p:spPr>
          <a:xfrm>
            <a:off x="2970541" y="2817940"/>
            <a:ext cx="279369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400" b="1" dirty="0"/>
              <a:t>Súbor:</a:t>
            </a:r>
            <a:r>
              <a:rPr lang="sk-SK" sz="1400" dirty="0"/>
              <a:t> Demo4_SmoothUnion.java</a:t>
            </a:r>
          </a:p>
          <a:p>
            <a:r>
              <a:rPr lang="sk-SK" sz="1400" b="1" dirty="0"/>
              <a:t>Kľúčová myšlienka:</a:t>
            </a:r>
            <a:r>
              <a:rPr lang="sk-SK" sz="1400" dirty="0"/>
              <a:t> Plynulé splynutie objektov pomocou funkcie </a:t>
            </a:r>
            <a:r>
              <a:rPr lang="sk-SK" sz="1400" dirty="0" err="1"/>
              <a:t>smin</a:t>
            </a:r>
            <a:r>
              <a:rPr lang="sk-SK" sz="1400" dirty="0"/>
              <a:t>.</a:t>
            </a:r>
          </a:p>
          <a:p>
            <a:r>
              <a:rPr lang="sk-SK" sz="1400" b="1" dirty="0"/>
              <a:t>Efekt:</a:t>
            </a:r>
            <a:r>
              <a:rPr lang="sk-SK" sz="1400" dirty="0"/>
              <a:t> Sféra a kocka vytvárajú „organický mostík“, čím imitujú povrchové napätie kvapalín.</a:t>
            </a:r>
          </a:p>
          <a:p>
            <a:r>
              <a:rPr lang="sk-SK" sz="1400" b="1" dirty="0"/>
              <a:t>Matematika:</a:t>
            </a:r>
            <a:r>
              <a:rPr lang="sk-SK" sz="1400" dirty="0"/>
              <a:t> Použitie koeficientu vyhladzovania na miešanie polí vzdialeností (</a:t>
            </a:r>
            <a:r>
              <a:rPr lang="sk-SK" sz="1400" b="1" dirty="0"/>
              <a:t>SDF </a:t>
            </a:r>
            <a:r>
              <a:rPr lang="sk-SK" sz="1400" b="1" dirty="0" err="1"/>
              <a:t>Blending</a:t>
            </a:r>
            <a:r>
              <a:rPr lang="sk-SK" sz="1400" dirty="0"/>
              <a:t>).</a:t>
            </a:r>
          </a:p>
        </p:txBody>
      </p:sp>
      <p:pic>
        <p:nvPicPr>
          <p:cNvPr id="12" name="Obrázok 11">
            <a:extLst>
              <a:ext uri="{FF2B5EF4-FFF2-40B4-BE49-F238E27FC236}">
                <a16:creationId xmlns:a16="http://schemas.microsoft.com/office/drawing/2014/main" id="{C121958D-6B7B-7C84-22DD-51514D1EC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117" y="158521"/>
            <a:ext cx="2726352" cy="2496545"/>
          </a:xfrm>
          <a:prstGeom prst="rect">
            <a:avLst/>
          </a:prstGeom>
        </p:spPr>
      </p:pic>
      <p:sp>
        <p:nvSpPr>
          <p:cNvPr id="14" name="BlokTextu 13">
            <a:extLst>
              <a:ext uri="{FF2B5EF4-FFF2-40B4-BE49-F238E27FC236}">
                <a16:creationId xmlns:a16="http://schemas.microsoft.com/office/drawing/2014/main" id="{0FE00949-2C1D-1B76-5931-D122B52C7BB1}"/>
              </a:ext>
            </a:extLst>
          </p:cNvPr>
          <p:cNvSpPr txBox="1"/>
          <p:nvPr/>
        </p:nvSpPr>
        <p:spPr>
          <a:xfrm>
            <a:off x="5998133" y="2814956"/>
            <a:ext cx="281533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sz="1400" b="1" dirty="0"/>
              <a:t>Súbor:</a:t>
            </a:r>
            <a:r>
              <a:rPr lang="sk-SK" sz="1400" dirty="0"/>
              <a:t> Demo6_Subtraction.java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sz="1400" b="1" dirty="0"/>
              <a:t>Duté tvary:</a:t>
            </a:r>
            <a:r>
              <a:rPr lang="sk-SK" sz="1400" dirty="0"/>
              <a:t> Vytvorenie tenkej steny (</a:t>
            </a:r>
            <a:r>
              <a:rPr lang="sk-SK" sz="1400" dirty="0" err="1"/>
              <a:t>shell</a:t>
            </a:r>
            <a:r>
              <a:rPr lang="sk-SK" sz="1400" dirty="0"/>
              <a:t>) pomocou </a:t>
            </a:r>
            <a:r>
              <a:rPr lang="sk-SK" sz="1400" dirty="0" err="1"/>
              <a:t>abs</a:t>
            </a:r>
            <a:r>
              <a:rPr lang="sk-SK" sz="1400" dirty="0"/>
              <a:t>(</a:t>
            </a:r>
            <a:r>
              <a:rPr lang="sk-SK" sz="1400" dirty="0" err="1"/>
              <a:t>dist</a:t>
            </a:r>
            <a:r>
              <a:rPr lang="sk-SK" sz="1400" dirty="0"/>
              <a:t>) - </a:t>
            </a:r>
            <a:r>
              <a:rPr lang="sk-SK" sz="1400" dirty="0" err="1"/>
              <a:t>thickness</a:t>
            </a:r>
            <a:r>
              <a:rPr lang="sk-SK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sz="1400" b="1" dirty="0"/>
              <a:t>Odčítanie:</a:t>
            </a:r>
            <a:r>
              <a:rPr lang="sk-SK" sz="1400" dirty="0"/>
              <a:t> Operácia max(-box, </a:t>
            </a:r>
            <a:r>
              <a:rPr lang="sk-SK" sz="1400" dirty="0" err="1"/>
              <a:t>sphere</a:t>
            </a:r>
            <a:r>
              <a:rPr lang="sk-SK" sz="1400" dirty="0"/>
              <a:t>) umožňuje „vyrezať“ segment objektu.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sz="1400" b="1" dirty="0"/>
              <a:t>Výhoda:</a:t>
            </a:r>
            <a:r>
              <a:rPr lang="sk-SK" sz="1400" dirty="0"/>
              <a:t> Možnosť nahliadnuť do vnútra matematického modelu bez potreby zložitej polygonálnej siete.</a:t>
            </a:r>
          </a:p>
        </p:txBody>
      </p:sp>
      <p:pic>
        <p:nvPicPr>
          <p:cNvPr id="15" name="Obrázok 14">
            <a:extLst>
              <a:ext uri="{FF2B5EF4-FFF2-40B4-BE49-F238E27FC236}">
                <a16:creationId xmlns:a16="http://schemas.microsoft.com/office/drawing/2014/main" id="{6398D85A-F700-3B58-0BCF-69B1D0945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8516" y="158521"/>
            <a:ext cx="3108679" cy="2496545"/>
          </a:xfrm>
          <a:prstGeom prst="rect">
            <a:avLst/>
          </a:prstGeom>
        </p:spPr>
      </p:pic>
      <p:sp>
        <p:nvSpPr>
          <p:cNvPr id="17" name="BlokTextu 16">
            <a:extLst>
              <a:ext uri="{FF2B5EF4-FFF2-40B4-BE49-F238E27FC236}">
                <a16:creationId xmlns:a16="http://schemas.microsoft.com/office/drawing/2014/main" id="{AC679EE9-73C9-6722-937F-95D082ACA842}"/>
              </a:ext>
            </a:extLst>
          </p:cNvPr>
          <p:cNvSpPr txBox="1"/>
          <p:nvPr/>
        </p:nvSpPr>
        <p:spPr>
          <a:xfrm>
            <a:off x="8988515" y="2814956"/>
            <a:ext cx="31056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sz="1400" b="1" dirty="0"/>
              <a:t>Súbor:</a:t>
            </a:r>
            <a:r>
              <a:rPr lang="sk-SK" sz="1400" dirty="0"/>
              <a:t> Demo7_Scaling.java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sz="1400" b="1" dirty="0"/>
              <a:t>Metóda:</a:t>
            </a:r>
            <a:r>
              <a:rPr lang="sk-SK" sz="1400" dirty="0"/>
              <a:t> Manipulácia s vektorom súradníc p pred samotným výpočtom vzdialenosti.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sz="1400" b="1" dirty="0"/>
              <a:t>Možnosti:</a:t>
            </a:r>
            <a:r>
              <a:rPr lang="sk-SK" sz="1400" dirty="0"/>
              <a:t> Zmena rozmerov (</a:t>
            </a:r>
            <a:r>
              <a:rPr lang="sk-SK" sz="1400" dirty="0" err="1"/>
              <a:t>Scaling</a:t>
            </a:r>
            <a:r>
              <a:rPr lang="sk-SK" sz="1400" dirty="0"/>
              <a:t>) a deformácia tvarov bez úpravy parametrov základnej figúry.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sz="1400" b="1" dirty="0"/>
              <a:t>Príklad:</a:t>
            </a:r>
            <a:r>
              <a:rPr lang="sk-SK" sz="1400" dirty="0"/>
              <a:t> Premena kocky na tenkú platňu alebo dlhý stĺp jednoduchou manipuláciou s osami súradníc.</a:t>
            </a:r>
          </a:p>
        </p:txBody>
      </p:sp>
    </p:spTree>
    <p:extLst>
      <p:ext uri="{BB962C8B-B14F-4D97-AF65-F5344CB8AC3E}">
        <p14:creationId xmlns:p14="http://schemas.microsoft.com/office/powerpoint/2010/main" val="440977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CFFEE55A-7481-842A-0196-BA4857B955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7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86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Zástupný objekt pre obsah 3">
            <a:extLst>
              <a:ext uri="{FF2B5EF4-FFF2-40B4-BE49-F238E27FC236}">
                <a16:creationId xmlns:a16="http://schemas.microsoft.com/office/drawing/2014/main" id="{849CF244-48C8-6621-5A2E-267B854A9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75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368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ABDEAA-B248-4182-B67C-A925338E7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008" y="252743"/>
            <a:ext cx="4739619" cy="304261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Obrázok 3" descr="Obrázok, na ktorom je text, snímka obrazovky, písmo, softvér&#10;&#10;Automaticky generovaný popis">
            <a:extLst>
              <a:ext uri="{FF2B5EF4-FFF2-40B4-BE49-F238E27FC236}">
                <a16:creationId xmlns:a16="http://schemas.microsoft.com/office/drawing/2014/main" id="{D0F7B851-3B33-F6DE-B315-16D6BAE05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569" y="357052"/>
            <a:ext cx="4546446" cy="275190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49" y="3548095"/>
            <a:ext cx="4739619" cy="304261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CDA5F399-8879-1B62-F62F-3AF19A7D2AEB}"/>
              </a:ext>
            </a:extLst>
          </p:cNvPr>
          <p:cNvSpPr txBox="1"/>
          <p:nvPr/>
        </p:nvSpPr>
        <p:spPr>
          <a:xfrm>
            <a:off x="6392583" y="357052"/>
            <a:ext cx="4434721" cy="59992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Od </a:t>
            </a:r>
            <a:r>
              <a:rPr lang="en-US" b="1" dirty="0" err="1"/>
              <a:t>matematiky</a:t>
            </a:r>
            <a:r>
              <a:rPr lang="en-US" b="1" dirty="0"/>
              <a:t> k </a:t>
            </a:r>
            <a:r>
              <a:rPr lang="en-US" b="1" dirty="0" err="1"/>
              <a:t>fotorealizmu</a:t>
            </a:r>
            <a:r>
              <a:rPr lang="en-US" b="1" dirty="0"/>
              <a:t>: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vzniká</a:t>
            </a:r>
            <a:r>
              <a:rPr lang="en-US" b="1" dirty="0"/>
              <a:t> </a:t>
            </a:r>
            <a:r>
              <a:rPr lang="en-US" b="1" dirty="0" err="1"/>
              <a:t>obraz</a:t>
            </a: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 err="1"/>
              <a:t>Svetlo</a:t>
            </a:r>
            <a:r>
              <a:rPr lang="en-US" sz="1400" dirty="0"/>
              <a:t> v </a:t>
            </a:r>
            <a:r>
              <a:rPr lang="en-US" sz="1400" dirty="0" err="1"/>
              <a:t>našom</a:t>
            </a:r>
            <a:r>
              <a:rPr lang="en-US" sz="1400" dirty="0"/>
              <a:t> </a:t>
            </a:r>
            <a:r>
              <a:rPr lang="en-US" sz="1400" dirty="0" err="1"/>
              <a:t>scéne</a:t>
            </a:r>
            <a:r>
              <a:rPr lang="en-US" sz="1400" dirty="0"/>
              <a:t> </a:t>
            </a:r>
            <a:r>
              <a:rPr lang="en-US" sz="1400" dirty="0" err="1"/>
              <a:t>nie</a:t>
            </a:r>
            <a:r>
              <a:rPr lang="en-US" sz="1400" dirty="0"/>
              <a:t> je </a:t>
            </a:r>
            <a:r>
              <a:rPr lang="en-US" sz="1400" dirty="0" err="1"/>
              <a:t>len</a:t>
            </a:r>
            <a:r>
              <a:rPr lang="en-US" sz="1400" dirty="0"/>
              <a:t> </a:t>
            </a:r>
            <a:r>
              <a:rPr lang="en-US" sz="1400" dirty="0" err="1"/>
              <a:t>jedna</a:t>
            </a:r>
            <a:r>
              <a:rPr lang="en-US" sz="1400" dirty="0"/>
              <a:t> </a:t>
            </a:r>
            <a:r>
              <a:rPr lang="en-US" sz="1400" dirty="0" err="1"/>
              <a:t>hodnota</a:t>
            </a:r>
            <a:r>
              <a:rPr lang="en-US" sz="1400" dirty="0"/>
              <a:t>, ale </a:t>
            </a:r>
            <a:r>
              <a:rPr lang="en-US" sz="1400" dirty="0" err="1"/>
              <a:t>súčet</a:t>
            </a:r>
            <a:r>
              <a:rPr lang="en-US" sz="1400" dirty="0"/>
              <a:t> troch </a:t>
            </a:r>
            <a:r>
              <a:rPr lang="en-US" sz="1400" dirty="0" err="1"/>
              <a:t>zložiek</a:t>
            </a:r>
            <a:r>
              <a:rPr lang="en-US" sz="1400" dirty="0"/>
              <a:t>, </a:t>
            </a:r>
            <a:r>
              <a:rPr lang="en-US" sz="1400" dirty="0" err="1"/>
              <a:t>ktoré</a:t>
            </a:r>
            <a:r>
              <a:rPr lang="en-US" sz="1400" dirty="0"/>
              <a:t> </a:t>
            </a:r>
            <a:r>
              <a:rPr lang="en-US" sz="1400" dirty="0" err="1"/>
              <a:t>spolu</a:t>
            </a:r>
            <a:r>
              <a:rPr lang="en-US" sz="1400" dirty="0"/>
              <a:t> </a:t>
            </a:r>
            <a:r>
              <a:rPr lang="en-US" sz="1400" dirty="0" err="1"/>
              <a:t>vytvárajú</a:t>
            </a:r>
            <a:r>
              <a:rPr lang="en-US" sz="1400" dirty="0"/>
              <a:t> </a:t>
            </a:r>
            <a:r>
              <a:rPr lang="en-US" sz="1400" dirty="0" err="1"/>
              <a:t>ilúziu</a:t>
            </a:r>
            <a:r>
              <a:rPr lang="en-US" sz="1400" dirty="0"/>
              <a:t> reality: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A. Ambient (</a:t>
            </a:r>
            <a:r>
              <a:rPr lang="en-US" sz="1400" b="1" dirty="0" err="1"/>
              <a:t>Okolité</a:t>
            </a:r>
            <a:r>
              <a:rPr lang="en-US" sz="1400" b="1" dirty="0"/>
              <a:t> </a:t>
            </a:r>
            <a:r>
              <a:rPr lang="en-US" sz="1400" b="1" dirty="0" err="1"/>
              <a:t>svetlo</a:t>
            </a:r>
            <a:r>
              <a:rPr lang="en-US" sz="1400" b="1" dirty="0"/>
              <a:t>):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Simuluje</a:t>
            </a:r>
            <a:r>
              <a:rPr lang="en-US" sz="1400" dirty="0"/>
              <a:t> </a:t>
            </a:r>
            <a:r>
              <a:rPr lang="en-US" sz="1400" dirty="0" err="1"/>
              <a:t>svetlo</a:t>
            </a:r>
            <a:r>
              <a:rPr lang="en-US" sz="1400" dirty="0"/>
              <a:t> </a:t>
            </a:r>
            <a:r>
              <a:rPr lang="en-US" sz="1400" dirty="0" err="1"/>
              <a:t>odrazené</a:t>
            </a:r>
            <a:r>
              <a:rPr lang="en-US" sz="1400" dirty="0"/>
              <a:t> od </a:t>
            </a:r>
            <a:r>
              <a:rPr lang="en-US" sz="1400" dirty="0" err="1"/>
              <a:t>prostredia</a:t>
            </a:r>
            <a:r>
              <a:rPr lang="en-US" sz="1400" dirty="0"/>
              <a:t>. </a:t>
            </a:r>
            <a:r>
              <a:rPr lang="en-US" sz="1400" dirty="0" err="1"/>
              <a:t>Zabezpečuje</a:t>
            </a:r>
            <a:r>
              <a:rPr lang="en-US" sz="1400" dirty="0"/>
              <a:t>, aby </a:t>
            </a:r>
            <a:r>
              <a:rPr lang="en-US" sz="1400" dirty="0" err="1"/>
              <a:t>tiene</a:t>
            </a:r>
            <a:r>
              <a:rPr lang="en-US" sz="1400" dirty="0"/>
              <a:t> </a:t>
            </a:r>
            <a:r>
              <a:rPr lang="en-US" sz="1400" dirty="0" err="1"/>
              <a:t>neboli</a:t>
            </a:r>
            <a:r>
              <a:rPr lang="en-US" sz="1400" dirty="0"/>
              <a:t> </a:t>
            </a:r>
            <a:r>
              <a:rPr lang="en-US" sz="1400" dirty="0" err="1"/>
              <a:t>úplne</a:t>
            </a:r>
            <a:r>
              <a:rPr lang="en-US" sz="1400" dirty="0"/>
              <a:t> </a:t>
            </a:r>
            <a:r>
              <a:rPr lang="en-US" sz="1400" dirty="0" err="1"/>
              <a:t>čierne</a:t>
            </a:r>
            <a:r>
              <a:rPr lang="en-US" sz="1400" dirty="0"/>
              <a:t>. Bez </a:t>
            </a:r>
            <a:r>
              <a:rPr lang="en-US" sz="1400" dirty="0" err="1"/>
              <a:t>neho</a:t>
            </a:r>
            <a:r>
              <a:rPr lang="en-US" sz="1400" dirty="0"/>
              <a:t> by </a:t>
            </a:r>
            <a:r>
              <a:rPr lang="en-US" sz="1400" dirty="0" err="1"/>
              <a:t>objekty</a:t>
            </a:r>
            <a:r>
              <a:rPr lang="en-US" sz="1400" dirty="0"/>
              <a:t> </a:t>
            </a:r>
            <a:r>
              <a:rPr lang="en-US" sz="1400" dirty="0" err="1"/>
              <a:t>vyzerali</a:t>
            </a:r>
            <a:r>
              <a:rPr lang="en-US" sz="1400" dirty="0"/>
              <a:t> </a:t>
            </a:r>
            <a:r>
              <a:rPr lang="en-US" sz="1400" dirty="0" err="1"/>
              <a:t>ako</a:t>
            </a:r>
            <a:r>
              <a:rPr lang="en-US" sz="1400" dirty="0"/>
              <a:t> </a:t>
            </a:r>
            <a:r>
              <a:rPr lang="en-US" sz="1400" dirty="0" err="1"/>
              <a:t>vo</a:t>
            </a:r>
            <a:r>
              <a:rPr lang="en-US" sz="1400" dirty="0"/>
              <a:t> </a:t>
            </a:r>
            <a:r>
              <a:rPr lang="en-US" sz="1400" dirty="0" err="1"/>
              <a:t>vákuu</a:t>
            </a:r>
            <a:r>
              <a:rPr lang="en-US" sz="1400" dirty="0"/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i="1" dirty="0" err="1"/>
              <a:t>Kód</a:t>
            </a:r>
            <a:r>
              <a:rPr lang="en-US" sz="1400" i="1" dirty="0"/>
              <a:t>:</a:t>
            </a:r>
            <a:r>
              <a:rPr lang="en-US" sz="1400" dirty="0"/>
              <a:t> vec3 ambient = </a:t>
            </a:r>
            <a:r>
              <a:rPr lang="en-US" sz="1400" dirty="0" err="1"/>
              <a:t>baseColor</a:t>
            </a:r>
            <a:r>
              <a:rPr lang="en-US" sz="1400" dirty="0"/>
              <a:t> * 0.15;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B. Diffuse (</a:t>
            </a:r>
            <a:r>
              <a:rPr lang="en-US" sz="1400" b="1" dirty="0" err="1"/>
              <a:t>Difúzne</a:t>
            </a:r>
            <a:r>
              <a:rPr lang="en-US" sz="1400" b="1" dirty="0"/>
              <a:t> </a:t>
            </a:r>
            <a:r>
              <a:rPr lang="en-US" sz="1400" b="1" dirty="0" err="1"/>
              <a:t>rozptýlenie</a:t>
            </a:r>
            <a:r>
              <a:rPr lang="en-US" sz="1400" b="1" dirty="0"/>
              <a:t> – </a:t>
            </a:r>
            <a:r>
              <a:rPr lang="en-US" sz="1400" b="1" dirty="0" err="1"/>
              <a:t>Lambertov</a:t>
            </a:r>
            <a:r>
              <a:rPr lang="en-US" sz="1400" b="1" dirty="0"/>
              <a:t> </a:t>
            </a:r>
            <a:r>
              <a:rPr lang="en-US" sz="1400" b="1" dirty="0" err="1"/>
              <a:t>zákon</a:t>
            </a:r>
            <a:r>
              <a:rPr lang="en-US" sz="1400" b="1" dirty="0"/>
              <a:t>):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Určuje</a:t>
            </a:r>
            <a:r>
              <a:rPr lang="en-US" sz="1400" dirty="0"/>
              <a:t> </a:t>
            </a:r>
            <a:r>
              <a:rPr lang="en-US" sz="1400" dirty="0" err="1"/>
              <a:t>základný</a:t>
            </a:r>
            <a:r>
              <a:rPr lang="en-US" sz="1400" dirty="0"/>
              <a:t> </a:t>
            </a:r>
            <a:r>
              <a:rPr lang="en-US" sz="1400" dirty="0" err="1"/>
              <a:t>objem</a:t>
            </a:r>
            <a:r>
              <a:rPr lang="en-US" sz="1400" dirty="0"/>
              <a:t> </a:t>
            </a:r>
            <a:r>
              <a:rPr lang="en-US" sz="1400" dirty="0" err="1"/>
              <a:t>objektu</a:t>
            </a:r>
            <a:r>
              <a:rPr lang="en-US" sz="1400" dirty="0"/>
              <a:t>. Jas </a:t>
            </a:r>
            <a:r>
              <a:rPr lang="en-US" sz="1400" dirty="0" err="1"/>
              <a:t>závisí</a:t>
            </a:r>
            <a:r>
              <a:rPr lang="en-US" sz="1400" dirty="0"/>
              <a:t> od </a:t>
            </a:r>
            <a:r>
              <a:rPr lang="en-US" sz="1400" dirty="0" err="1"/>
              <a:t>uhla</a:t>
            </a:r>
            <a:r>
              <a:rPr lang="en-US" sz="1400" dirty="0"/>
              <a:t> </a:t>
            </a:r>
            <a:r>
              <a:rPr lang="en-US" sz="1400" dirty="0" err="1"/>
              <a:t>dopadu</a:t>
            </a:r>
            <a:r>
              <a:rPr lang="en-US" sz="1400" dirty="0"/>
              <a:t> </a:t>
            </a:r>
            <a:r>
              <a:rPr lang="en-US" sz="1400" dirty="0" err="1"/>
              <a:t>svetla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povrch</a:t>
            </a:r>
            <a:r>
              <a:rPr lang="en-US" sz="1400" dirty="0"/>
              <a:t>. </a:t>
            </a:r>
            <a:r>
              <a:rPr lang="en-US" sz="1400" dirty="0" err="1"/>
              <a:t>Používame</a:t>
            </a:r>
            <a:r>
              <a:rPr lang="en-US" sz="1400" dirty="0"/>
              <a:t> </a:t>
            </a:r>
            <a:r>
              <a:rPr lang="en-US" sz="1400" dirty="0" err="1"/>
              <a:t>skalárny</a:t>
            </a:r>
            <a:r>
              <a:rPr lang="en-US" sz="1400" dirty="0"/>
              <a:t> </a:t>
            </a:r>
            <a:r>
              <a:rPr lang="en-US" sz="1400" dirty="0" err="1"/>
              <a:t>súčin</a:t>
            </a:r>
            <a:r>
              <a:rPr lang="en-US" sz="1400" dirty="0"/>
              <a:t> (</a:t>
            </a:r>
            <a:r>
              <a:rPr lang="en-US" sz="1400" b="1" dirty="0"/>
              <a:t>Dot Product</a:t>
            </a:r>
            <a:r>
              <a:rPr lang="en-US" sz="1400" dirty="0"/>
              <a:t>) </a:t>
            </a:r>
            <a:r>
              <a:rPr lang="en-US" sz="1400" dirty="0" err="1"/>
              <a:t>medzi</a:t>
            </a:r>
            <a:r>
              <a:rPr lang="en-US" sz="1400" dirty="0"/>
              <a:t> </a:t>
            </a:r>
            <a:r>
              <a:rPr lang="en-US" sz="1400" dirty="0" err="1"/>
              <a:t>normálou</a:t>
            </a:r>
            <a:r>
              <a:rPr lang="en-US" sz="1400" dirty="0"/>
              <a:t> a </a:t>
            </a:r>
            <a:r>
              <a:rPr lang="en-US" sz="1400" dirty="0" err="1"/>
              <a:t>smerom</a:t>
            </a:r>
            <a:r>
              <a:rPr lang="en-US" sz="1400" dirty="0"/>
              <a:t> </a:t>
            </a:r>
            <a:r>
              <a:rPr lang="en-US" sz="1400" dirty="0" err="1"/>
              <a:t>svetla</a:t>
            </a:r>
            <a:r>
              <a:rPr lang="en-US" sz="1400" dirty="0"/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i="1" dirty="0" err="1"/>
              <a:t>Kód</a:t>
            </a:r>
            <a:r>
              <a:rPr lang="en-US" sz="1400" i="1" dirty="0"/>
              <a:t>:</a:t>
            </a:r>
            <a:r>
              <a:rPr lang="en-US" sz="1400" dirty="0"/>
              <a:t> float diff = max(dot(n, l), 0.0);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C. Specular (</a:t>
            </a:r>
            <a:r>
              <a:rPr lang="en-US" sz="1400" b="1" dirty="0" err="1"/>
              <a:t>Zrkadlové</a:t>
            </a:r>
            <a:r>
              <a:rPr lang="en-US" sz="1400" b="1" dirty="0"/>
              <a:t> </a:t>
            </a:r>
            <a:r>
              <a:rPr lang="en-US" sz="1400" b="1" dirty="0" err="1"/>
              <a:t>odlesky</a:t>
            </a:r>
            <a:r>
              <a:rPr lang="en-US" sz="1400" b="1" dirty="0"/>
              <a:t> – Blinn-Phong):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Vytvára</a:t>
            </a:r>
            <a:r>
              <a:rPr lang="en-US" sz="1400" dirty="0"/>
              <a:t> </a:t>
            </a:r>
            <a:r>
              <a:rPr lang="en-US" sz="1400" dirty="0" err="1"/>
              <a:t>jasný</a:t>
            </a:r>
            <a:r>
              <a:rPr lang="en-US" sz="1400" dirty="0"/>
              <a:t> bod, </a:t>
            </a:r>
            <a:r>
              <a:rPr lang="en-US" sz="1400" dirty="0" err="1"/>
              <a:t>vďaka</a:t>
            </a:r>
            <a:r>
              <a:rPr lang="en-US" sz="1400" dirty="0"/>
              <a:t> </a:t>
            </a:r>
            <a:r>
              <a:rPr lang="en-US" sz="1400" dirty="0" err="1"/>
              <a:t>ktorému</a:t>
            </a:r>
            <a:r>
              <a:rPr lang="en-US" sz="1400" dirty="0"/>
              <a:t> </a:t>
            </a:r>
            <a:r>
              <a:rPr lang="en-US" sz="1400" dirty="0" err="1"/>
              <a:t>povrch</a:t>
            </a:r>
            <a:r>
              <a:rPr lang="en-US" sz="1400" dirty="0"/>
              <a:t> </a:t>
            </a:r>
            <a:r>
              <a:rPr lang="en-US" sz="1400" dirty="0" err="1"/>
              <a:t>vyzerá</a:t>
            </a:r>
            <a:r>
              <a:rPr lang="en-US" sz="1400" dirty="0"/>
              <a:t> </a:t>
            </a:r>
            <a:r>
              <a:rPr lang="en-US" sz="1400" dirty="0" err="1"/>
              <a:t>ako</a:t>
            </a:r>
            <a:r>
              <a:rPr lang="en-US" sz="1400" dirty="0"/>
              <a:t> „</a:t>
            </a:r>
            <a:r>
              <a:rPr lang="en-US" sz="1400" dirty="0" err="1"/>
              <a:t>kov</a:t>
            </a:r>
            <a:r>
              <a:rPr lang="en-US" sz="1400" dirty="0"/>
              <a:t>“ </a:t>
            </a:r>
            <a:r>
              <a:rPr lang="en-US" sz="1400" dirty="0" err="1"/>
              <a:t>alebo</a:t>
            </a:r>
            <a:r>
              <a:rPr lang="en-US" sz="1400" dirty="0"/>
              <a:t> „</a:t>
            </a:r>
            <a:r>
              <a:rPr lang="en-US" sz="1400" dirty="0" err="1"/>
              <a:t>lesklý</a:t>
            </a:r>
            <a:r>
              <a:rPr lang="en-US" sz="1400" dirty="0"/>
              <a:t> </a:t>
            </a:r>
            <a:r>
              <a:rPr lang="en-US" sz="1400" dirty="0" err="1"/>
              <a:t>plast</a:t>
            </a:r>
            <a:r>
              <a:rPr lang="en-US" sz="1400" dirty="0"/>
              <a:t>“. </a:t>
            </a:r>
            <a:r>
              <a:rPr lang="en-US" sz="1400" dirty="0" err="1"/>
              <a:t>Závisí</a:t>
            </a:r>
            <a:r>
              <a:rPr lang="en-US" sz="1400" dirty="0"/>
              <a:t> od </a:t>
            </a:r>
            <a:r>
              <a:rPr lang="en-US" sz="1400" dirty="0" err="1"/>
              <a:t>pozície</a:t>
            </a:r>
            <a:r>
              <a:rPr lang="en-US" sz="1400" dirty="0"/>
              <a:t> </a:t>
            </a:r>
            <a:r>
              <a:rPr lang="en-US" sz="1400" dirty="0" err="1"/>
              <a:t>kamery</a:t>
            </a:r>
            <a:r>
              <a:rPr lang="en-US" sz="1400" dirty="0"/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Použitím</a:t>
            </a:r>
            <a:r>
              <a:rPr lang="en-US" sz="1400" dirty="0"/>
              <a:t> </a:t>
            </a:r>
            <a:r>
              <a:rPr lang="en-US" sz="1400" dirty="0" err="1"/>
              <a:t>vysokej</a:t>
            </a:r>
            <a:r>
              <a:rPr lang="en-US" sz="1400" dirty="0"/>
              <a:t> </a:t>
            </a:r>
            <a:r>
              <a:rPr lang="en-US" sz="1400" dirty="0" err="1"/>
              <a:t>mocniny</a:t>
            </a:r>
            <a:r>
              <a:rPr lang="en-US" sz="1400" dirty="0"/>
              <a:t> (</a:t>
            </a:r>
            <a:r>
              <a:rPr lang="en-US" sz="1400" dirty="0" err="1"/>
              <a:t>napr</a:t>
            </a:r>
            <a:r>
              <a:rPr lang="en-US" sz="1400" dirty="0"/>
              <a:t>. 64.0) </a:t>
            </a:r>
            <a:r>
              <a:rPr lang="en-US" sz="1400" dirty="0" err="1"/>
              <a:t>zmenšíme</a:t>
            </a:r>
            <a:r>
              <a:rPr lang="en-US" sz="1400" dirty="0"/>
              <a:t> </a:t>
            </a:r>
            <a:r>
              <a:rPr lang="en-US" sz="1400" dirty="0" err="1"/>
              <a:t>odlesk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malý</a:t>
            </a:r>
            <a:r>
              <a:rPr lang="en-US" sz="1400" dirty="0"/>
              <a:t>, </a:t>
            </a:r>
            <a:r>
              <a:rPr lang="en-US" sz="1400" dirty="0" err="1"/>
              <a:t>ostrý</a:t>
            </a:r>
            <a:r>
              <a:rPr lang="en-US" sz="1400" dirty="0"/>
              <a:t> bod, </a:t>
            </a:r>
            <a:r>
              <a:rPr lang="en-US" sz="1400" dirty="0" err="1"/>
              <a:t>čím</a:t>
            </a:r>
            <a:r>
              <a:rPr lang="en-US" sz="1400" dirty="0"/>
              <a:t> </a:t>
            </a:r>
            <a:r>
              <a:rPr lang="en-US" sz="1400" dirty="0" err="1"/>
              <a:t>simulujeme</a:t>
            </a:r>
            <a:r>
              <a:rPr lang="en-US" sz="1400" dirty="0"/>
              <a:t> </a:t>
            </a:r>
            <a:r>
              <a:rPr lang="en-US" sz="1400" dirty="0" err="1"/>
              <a:t>vyleštený</a:t>
            </a:r>
            <a:r>
              <a:rPr lang="en-US" sz="1400" dirty="0"/>
              <a:t> </a:t>
            </a:r>
            <a:r>
              <a:rPr lang="en-US" sz="1400" dirty="0" err="1"/>
              <a:t>povrch</a:t>
            </a:r>
            <a:r>
              <a:rPr lang="en-US" sz="1400" dirty="0"/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i="1" dirty="0" err="1"/>
              <a:t>Kód</a:t>
            </a:r>
            <a:r>
              <a:rPr lang="en-US" sz="1400" i="1" dirty="0"/>
              <a:t>:</a:t>
            </a:r>
            <a:r>
              <a:rPr lang="en-US" sz="1400" dirty="0"/>
              <a:t> float spec = pow(max(dot(n, h), 0.0), 64.0);</a:t>
            </a:r>
          </a:p>
        </p:txBody>
      </p:sp>
      <p:pic>
        <p:nvPicPr>
          <p:cNvPr id="5" name="Obrázok 4" descr="Obrázok, na ktorom je text, snímka obrazovky, písmo&#10;&#10;Automaticky generovaný popis">
            <a:extLst>
              <a:ext uri="{FF2B5EF4-FFF2-40B4-BE49-F238E27FC236}">
                <a16:creationId xmlns:a16="http://schemas.microsoft.com/office/drawing/2014/main" id="{EA4D8AC8-124C-6B7B-1980-27C0BE035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36" y="3665488"/>
            <a:ext cx="4422051" cy="280782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261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Zástupný objekt pre obsah 5" descr="Obrázok, na ktorom je bowling&#10;&#10;Automaticky generovaný popis">
            <a:extLst>
              <a:ext uri="{FF2B5EF4-FFF2-40B4-BE49-F238E27FC236}">
                <a16:creationId xmlns:a16="http://schemas.microsoft.com/office/drawing/2014/main" id="{ED75CECD-3844-5E49-3BA2-3E9E308A4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37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8505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7284</TotalTime>
  <Words>889</Words>
  <Application>Microsoft Macintosh PowerPoint</Application>
  <PresentationFormat>Širokouhlá</PresentationFormat>
  <Paragraphs>55</Paragraphs>
  <Slides>13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Motív Office</vt:lpstr>
      <vt:lpstr>Raymarching: 3D grafika bez polygónov</vt:lpstr>
      <vt:lpstr>Prezentácia programu PowerPoint</vt:lpstr>
      <vt:lpstr>Rozdiel v prístupoch (Ray Tracing vs Raymarching)</vt:lpstr>
      <vt:lpstr>Základy SDF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Vladyslav Roshko</dc:creator>
  <cp:lastModifiedBy>Vladyslav Roshko</cp:lastModifiedBy>
  <cp:revision>1</cp:revision>
  <dcterms:created xsi:type="dcterms:W3CDTF">2026-03-10T19:16:17Z</dcterms:created>
  <dcterms:modified xsi:type="dcterms:W3CDTF">2026-03-15T20:40:36Z</dcterms:modified>
</cp:coreProperties>
</file>